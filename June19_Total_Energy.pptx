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15"/>
  </p:notesMasterIdLst>
  <p:handoutMasterIdLst>
    <p:handoutMasterId r:id="rId16"/>
  </p:handoutMasterIdLst>
  <p:sldIdLst>
    <p:sldId id="256" r:id="rId5"/>
    <p:sldId id="324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29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2843506-70AB-4825-94E1-D767966D99A8}">
          <p14:sldIdLst>
            <p14:sldId id="256"/>
            <p14:sldId id="324"/>
            <p14:sldId id="330"/>
            <p14:sldId id="331"/>
            <p14:sldId id="332"/>
            <p14:sldId id="333"/>
            <p14:sldId id="334"/>
            <p14:sldId id="335"/>
            <p14:sldId id="336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2"/>
    <p:restoredTop sz="96327"/>
  </p:normalViewPr>
  <p:slideViewPr>
    <p:cSldViewPr snapToGrid="0">
      <p:cViewPr varScale="1">
        <p:scale>
          <a:sx n="76" d="100"/>
          <a:sy n="76" d="100"/>
        </p:scale>
        <p:origin x="524" y="7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" y="5598000"/>
            <a:ext cx="4567498" cy="126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6/12/2024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1" y="198582"/>
            <a:ext cx="3082197" cy="1985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3050818" y="198582"/>
            <a:ext cx="3047061" cy="1985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 userDrawn="1"/>
        </p:nvSpPr>
        <p:spPr>
          <a:xfrm>
            <a:off x="6097879" y="198582"/>
            <a:ext cx="3047061" cy="1985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 userDrawn="1"/>
        </p:nvSpPr>
        <p:spPr>
          <a:xfrm>
            <a:off x="9144939" y="198582"/>
            <a:ext cx="3047061" cy="1985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 userDrawn="1"/>
        </p:nvSpPr>
        <p:spPr>
          <a:xfrm>
            <a:off x="0" y="0"/>
            <a:ext cx="12191999" cy="1985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6/12/2024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9" name="Rectangle 18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BE1A07C-8552-0542-9BF7-2A61006340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" y="5598000"/>
            <a:ext cx="45674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" y="5598000"/>
            <a:ext cx="4567499" cy="126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6/12/2024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6/12/2024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9" name="Rectangle 18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0F173A6-3ACA-4942-AF2C-D0B120EE61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" y="5598000"/>
            <a:ext cx="4567499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6/12/2024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6/12/2024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6/12/2024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6/12/2024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6/12/2024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6/12/2024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E2D4160-4A25-214B-B0DD-33C1D7760F82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FFB46B-498F-AE4A-B9A7-4C6AB5B81AAF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7A2065-ED1B-724B-9396-45C1760E61E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D3DEAB-7BCF-4A44-8C12-F5B4318DA822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30BD48-AC82-AD43-8C23-93AE5272CA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26E371-D75A-604E-88BB-90AFCE90362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6/12/2024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9AFB0B-41DD-F947-A857-F70C3043CB58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6CD61E-7E92-D14D-9C2B-ACA64B9951C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D0C72E-2BBA-454D-BD97-AC183A643FB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A61640-FDAF-4345-8014-B6E2CE4F6002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874264D-D990-F44D-9800-EA8DF5CA515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6356CE-4984-C84D-82AE-A8CF95C81E5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6/12/2024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DF50DA-7B18-354A-ADC8-AE0388894B36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30A8D4-6A5A-154F-B1A1-1EFA9143C0DF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ABD13B1-A03B-334C-8443-736D9DCC4D2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E77912-2640-D24A-B1C4-A778B4DEDB3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343BB98-0911-ED45-99DF-3136DA24B6D5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DE1CE2-C376-9C45-BAD5-76783368CF2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6/12/2024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9E5936-8DDE-404C-8287-66CA0AC7109D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089031-6A5B-9449-87D7-7C5CDDC88BC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F6C75A-9108-CA4F-8B66-B6CECA99FEA2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CF4384-BA6E-6245-8D88-99ED543B1D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E6C63DE-AB2B-974A-A8EC-EA2603B292F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A2A04B-66A2-9349-97DE-C751FF65605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6/12/2024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F584D0-0125-DD43-839D-88959E97F90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85CBA6-CECB-7248-880F-540A646F768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497680-B31E-0E4C-B43C-A3D9D08A4D9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B6DF40-54B9-3B43-AE5C-98DAA975F99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860022-B720-0147-9D04-01AA504D70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E8E639-BFC3-EE48-B3BA-F70F153789ED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6/12/2024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670234-9DB2-424E-8823-6A9DA1AF548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DA2F90-2B7E-6F47-8B0A-F3C4FF1C9A5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27351F-0FF7-514A-8571-9BFEC244FE4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8888C3-9E25-4646-9D2D-E0F0EF3A8D49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11E38F-B04A-1742-90E3-F0CA0679C75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8ED03F5-8D14-604E-AF5A-BBD1209FB81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6/12/2024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27" y="985586"/>
            <a:ext cx="6096144" cy="40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6/12/2024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28" y="985586"/>
            <a:ext cx="6096144" cy="4075200"/>
          </a:xfrm>
          <a:prstGeom prst="rect">
            <a:avLst/>
          </a:prstGeom>
          <a:effectLst/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6A1933B-4578-2C48-B386-B6DE7FB469A0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8D5CB7-AA4B-854B-AB3D-49F9259FE929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9D8DEA-9F1F-B348-8F9E-92515F1EA58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A2104A-FEE3-5D47-AFE9-8B7C339672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9469BE-AFF9-CF46-B1D0-26FE866E2BA0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B5D989-FEE7-E847-A878-5126F541AF8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6/12/2024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28" y="799131"/>
            <a:ext cx="6096144" cy="4075200"/>
          </a:xfrm>
          <a:prstGeom prst="rect">
            <a:avLst/>
          </a:prstGeom>
          <a:effectLst/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6A1933B-4578-2C48-B386-B6DE7FB469A0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8D5CB7-AA4B-854B-AB3D-49F9259FE929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9D8DEA-9F1F-B348-8F9E-92515F1EA58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A2104A-FEE3-5D47-AFE9-8B7C339672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9469BE-AFF9-CF46-B1D0-26FE866E2BA0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B5D989-FEE7-E847-A878-5126F541AF8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902" y="5990481"/>
            <a:ext cx="3262499" cy="900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Take0ff Energy Consumption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600" dirty="0">
                <a:latin typeface="+mj-lt"/>
              </a:rPr>
              <a:t>Nathan Lu</a:t>
            </a:r>
          </a:p>
          <a:p>
            <a:r>
              <a:rPr lang="en-US" sz="1600" dirty="0">
                <a:latin typeface="+mj-lt"/>
              </a:rPr>
              <a:t>Management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2739" y="2642329"/>
            <a:ext cx="1349427" cy="377962"/>
          </a:xfrm>
        </p:spPr>
        <p:txBody>
          <a:bodyPr/>
          <a:lstStyle/>
          <a:p>
            <a:r>
              <a:rPr lang="en-US" sz="1600" dirty="0">
                <a:latin typeface="Barlow Condensed" panose="00000506000000000000" pitchFamily="2" charset="0"/>
              </a:rPr>
              <a:t>June 19, 2024</a:t>
            </a:r>
          </a:p>
        </p:txBody>
      </p:sp>
      <p:pic>
        <p:nvPicPr>
          <p:cNvPr id="6146" name="Picture 2" descr="Pipistrel Velis Electro - Wikipedia">
            <a:extLst>
              <a:ext uri="{FF2B5EF4-FFF2-40B4-BE49-F238E27FC236}">
                <a16:creationId xmlns:a16="http://schemas.microsoft.com/office/drawing/2014/main" id="{51C94234-0641-B766-E93A-FD30DF647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218" y="2790224"/>
            <a:ext cx="5153812" cy="343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What is the best measure of energy consumption and battery usage?</a:t>
            </a:r>
          </a:p>
          <a:p>
            <a:pPr lvl="1"/>
            <a:r>
              <a:rPr lang="en-US" dirty="0">
                <a:latin typeface="+mj-lt"/>
              </a:rPr>
              <a:t>Change in battery state of charge?</a:t>
            </a:r>
          </a:p>
          <a:p>
            <a:pPr lvl="1"/>
            <a:r>
              <a:rPr lang="en-US" dirty="0">
                <a:latin typeface="+mj-lt"/>
              </a:rPr>
              <a:t>Average power?</a:t>
            </a:r>
          </a:p>
          <a:p>
            <a:pPr lvl="1"/>
            <a:r>
              <a:rPr lang="en-US" dirty="0">
                <a:latin typeface="+mj-lt"/>
              </a:rPr>
              <a:t>Average energy?</a:t>
            </a:r>
          </a:p>
          <a:p>
            <a:r>
              <a:rPr lang="en-US" dirty="0">
                <a:latin typeface="+mj-lt"/>
              </a:rPr>
              <a:t>How do different takeoff power settings affect battery consumption?</a:t>
            </a:r>
          </a:p>
          <a:p>
            <a:pPr lvl="1"/>
            <a:r>
              <a:rPr lang="en-US" dirty="0">
                <a:latin typeface="+mj-lt"/>
              </a:rPr>
              <a:t>Which is more efficient?</a:t>
            </a:r>
          </a:p>
          <a:p>
            <a:pPr lvl="2"/>
            <a:r>
              <a:rPr lang="en-US" dirty="0">
                <a:latin typeface="+mj-lt"/>
              </a:rPr>
              <a:t>Higher power setting</a:t>
            </a:r>
          </a:p>
          <a:p>
            <a:pPr lvl="2"/>
            <a:r>
              <a:rPr lang="en-US" dirty="0">
                <a:latin typeface="+mj-lt"/>
              </a:rPr>
              <a:t>Lower power setting</a:t>
            </a:r>
          </a:p>
          <a:p>
            <a:pPr lvl="1"/>
            <a:endParaRPr lang="en-US" sz="1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2</a:t>
            </a:fld>
            <a:endParaRPr lang="en-US" sz="12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F369E-C18D-558D-DF2B-0BF298013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889" y="3682850"/>
            <a:ext cx="3889722" cy="189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0745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Filtering The Takeoff Stages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62BCB2-ED67-0D4F-364D-1384C24FB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1075" y="1273319"/>
            <a:ext cx="4710470" cy="181353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31" name="Content Placeholder 3">
            <a:extLst>
              <a:ext uri="{FF2B5EF4-FFF2-40B4-BE49-F238E27FC236}">
                <a16:creationId xmlns:a16="http://schemas.microsoft.com/office/drawing/2014/main" id="{B7F9725A-96FF-8767-A8E0-C6D68A240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/>
          <a:p>
            <a:r>
              <a:rPr lang="en-US" dirty="0">
                <a:latin typeface="+mj-lt"/>
              </a:rPr>
              <a:t>First Stage Filtering</a:t>
            </a:r>
          </a:p>
          <a:p>
            <a:pPr lvl="1"/>
            <a:r>
              <a:rPr lang="en-US" dirty="0">
                <a:latin typeface="+mj-lt"/>
              </a:rPr>
              <a:t>Filtered out non-circuit standard flights </a:t>
            </a:r>
          </a:p>
          <a:p>
            <a:pPr lvl="2"/>
            <a:r>
              <a:rPr lang="en-US" dirty="0">
                <a:latin typeface="+mj-lt"/>
              </a:rPr>
              <a:t>Any flight with a ground altitude height above 1200 ft</a:t>
            </a:r>
          </a:p>
          <a:p>
            <a:r>
              <a:rPr lang="en-US" dirty="0">
                <a:latin typeface="+mj-lt"/>
              </a:rPr>
              <a:t>Second Stage Filtering</a:t>
            </a:r>
          </a:p>
          <a:p>
            <a:pPr lvl="1"/>
            <a:r>
              <a:rPr lang="en-US" dirty="0">
                <a:latin typeface="+mj-lt"/>
              </a:rPr>
              <a:t>Filtered out non-climbing data</a:t>
            </a:r>
          </a:p>
          <a:p>
            <a:pPr lvl="2"/>
            <a:r>
              <a:rPr lang="en-US" dirty="0">
                <a:latin typeface="+mj-lt"/>
              </a:rPr>
              <a:t>Measured by calculating the slope of two cells 20 apart and making sure the slope is over a certain threshold.</a:t>
            </a:r>
          </a:p>
          <a:p>
            <a:pPr lvl="3"/>
            <a:r>
              <a:rPr lang="en-US" dirty="0">
                <a:latin typeface="+mj-lt"/>
              </a:rPr>
              <a:t>If it falls under the threshold, the cells in between are included in the dataset.</a:t>
            </a:r>
          </a:p>
          <a:p>
            <a:pPr lvl="3"/>
            <a:r>
              <a:rPr lang="en-US" dirty="0">
                <a:latin typeface="+mj-lt"/>
              </a:rPr>
              <a:t>This allows for more consistent data being included</a:t>
            </a:r>
          </a:p>
          <a:p>
            <a:pPr lvl="2"/>
            <a:endParaRPr lang="en-US" dirty="0">
              <a:latin typeface="+mj-lt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097847A-7046-F823-F85F-0BDC4426E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76" y="3059696"/>
            <a:ext cx="4710470" cy="181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3</a:t>
            </a:fld>
            <a:endParaRPr lang="en-US" sz="1200" dirty="0">
              <a:latin typeface="+mj-lt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757A54D-EB0B-21D0-9AFB-BF52106C4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75" y="4847078"/>
            <a:ext cx="4703120" cy="181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01769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Power Setting Based on Altitude</a:t>
            </a:r>
          </a:p>
        </p:txBody>
      </p:sp>
      <p:sp>
        <p:nvSpPr>
          <p:cNvPr id="1031" name="Content Placeholder 3">
            <a:extLst>
              <a:ext uri="{FF2B5EF4-FFF2-40B4-BE49-F238E27FC236}">
                <a16:creationId xmlns:a16="http://schemas.microsoft.com/office/drawing/2014/main" id="{B7F9725A-96FF-8767-A8E0-C6D68A240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8276" y="1413164"/>
            <a:ext cx="5658620" cy="4590472"/>
          </a:xfrm>
        </p:spPr>
        <p:txBody>
          <a:bodyPr/>
          <a:lstStyle/>
          <a:p>
            <a:r>
              <a:rPr lang="en-US" dirty="0">
                <a:latin typeface="+mj-lt"/>
              </a:rPr>
              <a:t>Main Altitude Stages</a:t>
            </a:r>
          </a:p>
          <a:p>
            <a:pPr lvl="1"/>
            <a:r>
              <a:rPr lang="en-US" dirty="0">
                <a:latin typeface="+mj-lt"/>
              </a:rPr>
              <a:t>Initial Takeoff (0-300 ft)</a:t>
            </a:r>
          </a:p>
          <a:p>
            <a:pPr lvl="2"/>
            <a:r>
              <a:rPr lang="en-US" dirty="0">
                <a:latin typeface="+mj-lt"/>
              </a:rPr>
              <a:t>Typical Power Setting: 65 kW</a:t>
            </a:r>
          </a:p>
          <a:p>
            <a:pPr lvl="1"/>
            <a:r>
              <a:rPr lang="en-US" dirty="0">
                <a:latin typeface="+mj-lt"/>
              </a:rPr>
              <a:t>1</a:t>
            </a:r>
            <a:r>
              <a:rPr lang="en-US" baseline="30000" dirty="0">
                <a:latin typeface="+mj-lt"/>
              </a:rPr>
              <a:t>st</a:t>
            </a:r>
            <a:r>
              <a:rPr lang="en-US" dirty="0">
                <a:latin typeface="+mj-lt"/>
              </a:rPr>
              <a:t> Climbing Stage (300-600)</a:t>
            </a:r>
          </a:p>
          <a:p>
            <a:pPr lvl="2"/>
            <a:r>
              <a:rPr lang="en-US" dirty="0">
                <a:latin typeface="+mj-lt"/>
              </a:rPr>
              <a:t>Typical Power Setting: 48 kW</a:t>
            </a:r>
          </a:p>
          <a:p>
            <a:pPr lvl="1"/>
            <a:r>
              <a:rPr lang="en-US" dirty="0">
                <a:latin typeface="+mj-lt"/>
              </a:rPr>
              <a:t>2</a:t>
            </a:r>
            <a:r>
              <a:rPr lang="en-US" baseline="30000" dirty="0">
                <a:latin typeface="+mj-lt"/>
              </a:rPr>
              <a:t>nd</a:t>
            </a:r>
            <a:r>
              <a:rPr lang="en-US" dirty="0">
                <a:latin typeface="+mj-lt"/>
              </a:rPr>
              <a:t> Climbing Stage (600-900)</a:t>
            </a:r>
          </a:p>
          <a:p>
            <a:pPr lvl="2"/>
            <a:r>
              <a:rPr lang="en-US" dirty="0">
                <a:latin typeface="+mj-lt"/>
              </a:rPr>
              <a:t>Typical Power Setting: 48 kW</a:t>
            </a: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4</a:t>
            </a:fld>
            <a:endParaRPr lang="en-US" sz="12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A01289-6B7F-9131-1731-EA5CE98AD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76" y="2229003"/>
            <a:ext cx="6119675" cy="2399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26421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Power Separation</a:t>
            </a:r>
          </a:p>
        </p:txBody>
      </p:sp>
      <p:sp>
        <p:nvSpPr>
          <p:cNvPr id="1031" name="Content Placeholder 3">
            <a:extLst>
              <a:ext uri="{FF2B5EF4-FFF2-40B4-BE49-F238E27FC236}">
                <a16:creationId xmlns:a16="http://schemas.microsoft.com/office/drawing/2014/main" id="{B7F9725A-96FF-8767-A8E0-C6D68A240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1651" y="1456993"/>
            <a:ext cx="5658620" cy="4590472"/>
          </a:xfrm>
        </p:spPr>
        <p:txBody>
          <a:bodyPr/>
          <a:lstStyle/>
          <a:p>
            <a:r>
              <a:rPr lang="en-US" dirty="0">
                <a:latin typeface="+mj-lt"/>
              </a:rPr>
              <a:t>Main Altitude Stages</a:t>
            </a:r>
          </a:p>
          <a:p>
            <a:pPr lvl="1"/>
            <a:r>
              <a:rPr lang="en-US" dirty="0">
                <a:latin typeface="+mj-lt"/>
              </a:rPr>
              <a:t>Initial Takeoff (0-300 ft)</a:t>
            </a:r>
          </a:p>
          <a:p>
            <a:pPr lvl="2"/>
            <a:r>
              <a:rPr lang="en-US" dirty="0">
                <a:latin typeface="+mj-lt"/>
              </a:rPr>
              <a:t>Average Power Setting: 54.544 kW</a:t>
            </a:r>
          </a:p>
          <a:p>
            <a:pPr lvl="1"/>
            <a:r>
              <a:rPr lang="en-US" dirty="0">
                <a:latin typeface="+mj-lt"/>
              </a:rPr>
              <a:t>1</a:t>
            </a:r>
            <a:r>
              <a:rPr lang="en-US" baseline="30000" dirty="0">
                <a:latin typeface="+mj-lt"/>
              </a:rPr>
              <a:t>st</a:t>
            </a:r>
            <a:r>
              <a:rPr lang="en-US" dirty="0">
                <a:latin typeface="+mj-lt"/>
              </a:rPr>
              <a:t> Climbing Stage (300-600)</a:t>
            </a:r>
          </a:p>
          <a:p>
            <a:pPr lvl="2"/>
            <a:r>
              <a:rPr lang="en-US" dirty="0">
                <a:latin typeface="+mj-lt"/>
              </a:rPr>
              <a:t>Typical Power Setting: 48.388 kW</a:t>
            </a:r>
          </a:p>
          <a:p>
            <a:pPr lvl="1"/>
            <a:r>
              <a:rPr lang="en-US" dirty="0">
                <a:latin typeface="+mj-lt"/>
              </a:rPr>
              <a:t>2</a:t>
            </a:r>
            <a:r>
              <a:rPr lang="en-US" baseline="30000" dirty="0">
                <a:latin typeface="+mj-lt"/>
              </a:rPr>
              <a:t>nd</a:t>
            </a:r>
            <a:r>
              <a:rPr lang="en-US" dirty="0">
                <a:latin typeface="+mj-lt"/>
              </a:rPr>
              <a:t> Climbing Stage (600-900)</a:t>
            </a:r>
          </a:p>
          <a:p>
            <a:pPr lvl="2"/>
            <a:r>
              <a:rPr lang="en-US" dirty="0">
                <a:latin typeface="+mj-lt"/>
              </a:rPr>
              <a:t>Typical Power Setting: 47.642 kW</a:t>
            </a: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5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053AC5D-C74A-4854-8B49-DB7357F21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54" y="1148973"/>
            <a:ext cx="4833346" cy="18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3B2E357-356A-9398-475E-3D6AA16BE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54" y="2998906"/>
            <a:ext cx="4833346" cy="18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E89B3A2F-AC62-3E1C-FF50-42C039F99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54" y="4871945"/>
            <a:ext cx="4833346" cy="18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32506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Separating the Takeoff Stages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6</a:t>
            </a:fld>
            <a:endParaRPr lang="en-US" sz="1200" dirty="0">
              <a:latin typeface="+mj-lt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EA44C1C-6E37-542B-8A28-31A111A2DB74}"/>
              </a:ext>
            </a:extLst>
          </p:cNvPr>
          <p:cNvSpPr txBox="1">
            <a:spLocks/>
          </p:cNvSpPr>
          <p:nvPr/>
        </p:nvSpPr>
        <p:spPr>
          <a:xfrm>
            <a:off x="6388276" y="1413164"/>
            <a:ext cx="5658620" cy="4590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Main Altitude Stages</a:t>
            </a:r>
          </a:p>
          <a:p>
            <a:pPr lvl="1"/>
            <a:r>
              <a:rPr lang="en-US" dirty="0">
                <a:latin typeface="+mj-lt"/>
              </a:rPr>
              <a:t>Initial Takeoff (0-300 ft)</a:t>
            </a:r>
          </a:p>
          <a:p>
            <a:pPr lvl="2"/>
            <a:r>
              <a:rPr lang="en-US" dirty="0">
                <a:latin typeface="+mj-lt"/>
              </a:rPr>
              <a:t>Average Time to climb 300ft: 0.459 min</a:t>
            </a:r>
          </a:p>
          <a:p>
            <a:pPr lvl="1"/>
            <a:r>
              <a:rPr lang="en-US" dirty="0">
                <a:latin typeface="+mj-lt"/>
              </a:rPr>
              <a:t>1</a:t>
            </a:r>
            <a:r>
              <a:rPr lang="en-US" baseline="30000" dirty="0">
                <a:latin typeface="+mj-lt"/>
              </a:rPr>
              <a:t>st</a:t>
            </a:r>
            <a:r>
              <a:rPr lang="en-US" dirty="0">
                <a:latin typeface="+mj-lt"/>
              </a:rPr>
              <a:t> Climbing Stage (300-600)</a:t>
            </a:r>
          </a:p>
          <a:p>
            <a:pPr lvl="2"/>
            <a:r>
              <a:rPr lang="en-US" dirty="0">
                <a:latin typeface="+mj-lt"/>
              </a:rPr>
              <a:t>Average Time to climb 300ft: 0.464 min</a:t>
            </a:r>
          </a:p>
          <a:p>
            <a:pPr lvl="1"/>
            <a:r>
              <a:rPr lang="en-US" dirty="0">
                <a:latin typeface="+mj-lt"/>
              </a:rPr>
              <a:t>2</a:t>
            </a:r>
            <a:r>
              <a:rPr lang="en-US" baseline="30000" dirty="0">
                <a:latin typeface="+mj-lt"/>
              </a:rPr>
              <a:t>nd</a:t>
            </a:r>
            <a:r>
              <a:rPr lang="en-US" dirty="0">
                <a:latin typeface="+mj-lt"/>
              </a:rPr>
              <a:t> Climbing Stage (600-900)</a:t>
            </a:r>
          </a:p>
          <a:p>
            <a:pPr lvl="2"/>
            <a:r>
              <a:rPr lang="en-US" dirty="0">
                <a:latin typeface="+mj-lt"/>
              </a:rPr>
              <a:t>Average Time to climb 300ft: 0.476 min</a:t>
            </a:r>
          </a:p>
          <a:p>
            <a:pPr lvl="2"/>
            <a:endParaRPr lang="en-US" dirty="0">
              <a:latin typeface="+mj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424D197-7F3B-8EA9-6290-CCEE694F9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26" y="1211648"/>
            <a:ext cx="4786314" cy="186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B220580-F98B-719C-0F23-17FEE852A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26" y="3073786"/>
            <a:ext cx="4786314" cy="186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BB86AFD-8424-9EB1-2AB0-A214220C0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27" y="4935925"/>
            <a:ext cx="4786313" cy="186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165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Average Energy Consumption</a:t>
            </a:r>
          </a:p>
        </p:txBody>
      </p:sp>
      <p:sp>
        <p:nvSpPr>
          <p:cNvPr id="1031" name="Content Placeholder 3">
            <a:extLst>
              <a:ext uri="{FF2B5EF4-FFF2-40B4-BE49-F238E27FC236}">
                <a16:creationId xmlns:a16="http://schemas.microsoft.com/office/drawing/2014/main" id="{B7F9725A-96FF-8767-A8E0-C6D68A240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1651" y="1456993"/>
            <a:ext cx="5658620" cy="4590472"/>
          </a:xfrm>
        </p:spPr>
        <p:txBody>
          <a:bodyPr/>
          <a:lstStyle/>
          <a:p>
            <a:r>
              <a:rPr lang="en-US" dirty="0">
                <a:latin typeface="+mj-lt"/>
              </a:rPr>
              <a:t>Main Altitude Stages</a:t>
            </a:r>
          </a:p>
          <a:p>
            <a:pPr lvl="1"/>
            <a:r>
              <a:rPr lang="en-US" dirty="0">
                <a:latin typeface="+mj-lt"/>
              </a:rPr>
              <a:t>Initial Takeoff (0-300 ft)</a:t>
            </a:r>
          </a:p>
          <a:p>
            <a:pPr lvl="2"/>
            <a:r>
              <a:rPr lang="en-US" dirty="0">
                <a:latin typeface="+mj-lt"/>
              </a:rPr>
              <a:t>Average Energy Consumption: 0.417 kWh</a:t>
            </a:r>
          </a:p>
          <a:p>
            <a:pPr lvl="1"/>
            <a:r>
              <a:rPr lang="en-US" dirty="0">
                <a:latin typeface="+mj-lt"/>
              </a:rPr>
              <a:t>1</a:t>
            </a:r>
            <a:r>
              <a:rPr lang="en-US" baseline="30000" dirty="0">
                <a:latin typeface="+mj-lt"/>
              </a:rPr>
              <a:t>st</a:t>
            </a:r>
            <a:r>
              <a:rPr lang="en-US" dirty="0">
                <a:latin typeface="+mj-lt"/>
              </a:rPr>
              <a:t> Climbing Stage (300-600)</a:t>
            </a:r>
          </a:p>
          <a:p>
            <a:pPr lvl="2"/>
            <a:r>
              <a:rPr lang="en-US" dirty="0">
                <a:latin typeface="+mj-lt"/>
              </a:rPr>
              <a:t>Average Energy Consumption: 0.374 kWh</a:t>
            </a:r>
          </a:p>
          <a:p>
            <a:pPr lvl="1"/>
            <a:r>
              <a:rPr lang="en-US" dirty="0">
                <a:latin typeface="+mj-lt"/>
              </a:rPr>
              <a:t>2</a:t>
            </a:r>
            <a:r>
              <a:rPr lang="en-US" baseline="30000" dirty="0">
                <a:latin typeface="+mj-lt"/>
              </a:rPr>
              <a:t>nd</a:t>
            </a:r>
            <a:r>
              <a:rPr lang="en-US" dirty="0">
                <a:latin typeface="+mj-lt"/>
              </a:rPr>
              <a:t> Climbing Stage (600-900)</a:t>
            </a:r>
          </a:p>
          <a:p>
            <a:pPr lvl="2"/>
            <a:r>
              <a:rPr lang="en-US" dirty="0">
                <a:latin typeface="+mj-lt"/>
              </a:rPr>
              <a:t>Average Energy Consumption: 0.368 kWh</a:t>
            </a:r>
          </a:p>
          <a:p>
            <a:pPr lvl="1"/>
            <a:r>
              <a:rPr lang="en-US" dirty="0">
                <a:latin typeface="+mj-lt"/>
              </a:rPr>
              <a:t>Total Consumption: 1.169 kWh per takeoff</a:t>
            </a:r>
          </a:p>
          <a:p>
            <a:pPr lvl="2"/>
            <a:r>
              <a:rPr lang="en-US" dirty="0">
                <a:latin typeface="+mj-lt"/>
              </a:rPr>
              <a:t>At 75%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: 6.285% </a:t>
            </a:r>
            <a:r>
              <a:rPr lang="en-US" dirty="0" err="1">
                <a:latin typeface="+mj-lt"/>
              </a:rPr>
              <a:t>dSoC</a:t>
            </a:r>
            <a:endParaRPr lang="en-US" dirty="0">
              <a:latin typeface="+mj-lt"/>
            </a:endParaRPr>
          </a:p>
          <a:p>
            <a:pPr lvl="1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7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053AC5D-C74A-4854-8B49-DB7357F21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54" y="1148973"/>
            <a:ext cx="4833346" cy="18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3B2E357-356A-9398-475E-3D6AA16BE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54" y="2998906"/>
            <a:ext cx="4833346" cy="18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E89B3A2F-AC62-3E1C-FF50-42C039F99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54" y="4871945"/>
            <a:ext cx="4833346" cy="18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10858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Average Energy Consumption (Vancouver)</a:t>
            </a:r>
          </a:p>
        </p:txBody>
      </p:sp>
      <p:sp>
        <p:nvSpPr>
          <p:cNvPr id="1031" name="Content Placeholder 3">
            <a:extLst>
              <a:ext uri="{FF2B5EF4-FFF2-40B4-BE49-F238E27FC236}">
                <a16:creationId xmlns:a16="http://schemas.microsoft.com/office/drawing/2014/main" id="{B7F9725A-96FF-8767-A8E0-C6D68A240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1651" y="1456993"/>
            <a:ext cx="5658620" cy="4590472"/>
          </a:xfrm>
        </p:spPr>
        <p:txBody>
          <a:bodyPr/>
          <a:lstStyle/>
          <a:p>
            <a:r>
              <a:rPr lang="en-US" dirty="0">
                <a:latin typeface="+mj-lt"/>
              </a:rPr>
              <a:t>Main Altitude Stages</a:t>
            </a:r>
          </a:p>
          <a:p>
            <a:pPr lvl="1"/>
            <a:r>
              <a:rPr lang="en-US" dirty="0">
                <a:latin typeface="+mj-lt"/>
              </a:rPr>
              <a:t>Initial Takeoff (0-300 ft)</a:t>
            </a:r>
          </a:p>
          <a:p>
            <a:pPr lvl="2"/>
            <a:r>
              <a:rPr lang="en-US" dirty="0">
                <a:latin typeface="+mj-lt"/>
              </a:rPr>
              <a:t>Average Energy Consumption: 0.353 kWh</a:t>
            </a:r>
          </a:p>
          <a:p>
            <a:pPr lvl="1"/>
            <a:r>
              <a:rPr lang="en-US" dirty="0">
                <a:latin typeface="+mj-lt"/>
              </a:rPr>
              <a:t>1</a:t>
            </a:r>
            <a:r>
              <a:rPr lang="en-US" baseline="30000" dirty="0">
                <a:latin typeface="+mj-lt"/>
              </a:rPr>
              <a:t>st</a:t>
            </a:r>
            <a:r>
              <a:rPr lang="en-US" dirty="0">
                <a:latin typeface="+mj-lt"/>
              </a:rPr>
              <a:t> Climbing Stage (300-600)</a:t>
            </a:r>
          </a:p>
          <a:p>
            <a:pPr lvl="2"/>
            <a:r>
              <a:rPr lang="en-US" dirty="0">
                <a:latin typeface="+mj-lt"/>
              </a:rPr>
              <a:t>Average Energy Consumption: 0.404 kWh</a:t>
            </a:r>
          </a:p>
          <a:p>
            <a:pPr lvl="1"/>
            <a:r>
              <a:rPr lang="en-US" dirty="0">
                <a:latin typeface="+mj-lt"/>
              </a:rPr>
              <a:t>2</a:t>
            </a:r>
            <a:r>
              <a:rPr lang="en-US" baseline="30000" dirty="0">
                <a:latin typeface="+mj-lt"/>
              </a:rPr>
              <a:t>nd</a:t>
            </a:r>
            <a:r>
              <a:rPr lang="en-US" dirty="0">
                <a:latin typeface="+mj-lt"/>
              </a:rPr>
              <a:t> Climbing Stage (600-900)</a:t>
            </a:r>
          </a:p>
          <a:p>
            <a:pPr lvl="2"/>
            <a:r>
              <a:rPr lang="en-US" dirty="0">
                <a:latin typeface="+mj-lt"/>
              </a:rPr>
              <a:t>Average Energy Consumption: 0.418 kWh</a:t>
            </a:r>
          </a:p>
          <a:p>
            <a:pPr lvl="1"/>
            <a:r>
              <a:rPr lang="en-US" dirty="0">
                <a:latin typeface="+mj-lt"/>
              </a:rPr>
              <a:t>Total Consumption: 1.176 kWh per takeoff</a:t>
            </a:r>
          </a:p>
          <a:p>
            <a:pPr lvl="2"/>
            <a:r>
              <a:rPr lang="en-US" dirty="0">
                <a:latin typeface="+mj-lt"/>
              </a:rPr>
              <a:t>At 75%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: 6.323% </a:t>
            </a:r>
            <a:r>
              <a:rPr lang="en-US" dirty="0" err="1">
                <a:latin typeface="+mj-lt"/>
              </a:rPr>
              <a:t>dSoC</a:t>
            </a:r>
            <a:endParaRPr lang="en-US" dirty="0">
              <a:latin typeface="+mj-lt"/>
            </a:endParaRPr>
          </a:p>
          <a:p>
            <a:pPr lvl="1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8</a:t>
            </a:fld>
            <a:endParaRPr lang="en-US" sz="1200" dirty="0">
              <a:latin typeface="+mj-l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DCBD528-1D17-A531-2178-1E5FF5642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63" y="1617879"/>
            <a:ext cx="6101788" cy="239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721972-1915-695F-C89D-A3801514DA17}"/>
              </a:ext>
            </a:extLst>
          </p:cNvPr>
          <p:cNvSpPr txBox="1"/>
          <p:nvPr/>
        </p:nvSpPr>
        <p:spPr>
          <a:xfrm>
            <a:off x="349863" y="3869347"/>
            <a:ext cx="666361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+mj-lt"/>
              </a:rPr>
              <a:t>Note: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600" dirty="0">
                <a:latin typeface="+mj-lt"/>
              </a:rPr>
              <a:t>Significantly less data points compared to Waterloo,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600" dirty="0">
                <a:latin typeface="+mj-lt"/>
              </a:rPr>
              <a:t>Vancouver has a lower takeoff power-setting but slightly longer takeoff stage durations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>
                <a:latin typeface="+mj-lt"/>
              </a:rPr>
              <a:t>Initial Stage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>
                <a:latin typeface="+mj-lt"/>
              </a:rPr>
              <a:t>0.419 min per 300 ft, 50.607 kW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>
                <a:latin typeface="+mj-lt"/>
              </a:rPr>
              <a:t>1</a:t>
            </a:r>
            <a:r>
              <a:rPr lang="en-CA" sz="1600" baseline="30000" dirty="0">
                <a:latin typeface="+mj-lt"/>
              </a:rPr>
              <a:t>st</a:t>
            </a:r>
            <a:r>
              <a:rPr lang="en-CA" sz="1600" dirty="0">
                <a:latin typeface="+mj-lt"/>
              </a:rPr>
              <a:t> Climb Stage: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>
                <a:latin typeface="+mj-lt"/>
              </a:rPr>
              <a:t>0.538 min per 300 ft, 45.25 kW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>
                <a:latin typeface="+mj-lt"/>
              </a:rPr>
              <a:t>2</a:t>
            </a:r>
            <a:r>
              <a:rPr lang="en-CA" sz="1600" baseline="30000" dirty="0">
                <a:latin typeface="+mj-lt"/>
              </a:rPr>
              <a:t>nd</a:t>
            </a:r>
            <a:r>
              <a:rPr lang="en-CA" sz="1600" dirty="0">
                <a:latin typeface="+mj-lt"/>
              </a:rPr>
              <a:t> Climb Stage: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>
                <a:latin typeface="+mj-lt"/>
              </a:rPr>
              <a:t>0.572 min per 300 ft, 43.884 kW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600" dirty="0">
                <a:latin typeface="+mj-lt"/>
              </a:rPr>
              <a:t>Waterloo is currently starting trials with 50 kW for initial takeoff power setting</a:t>
            </a:r>
          </a:p>
        </p:txBody>
      </p:sp>
    </p:spTree>
    <p:extLst>
      <p:ext uri="{BB962C8B-B14F-4D97-AF65-F5344CB8AC3E}">
        <p14:creationId xmlns:p14="http://schemas.microsoft.com/office/powerpoint/2010/main" val="207913355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What is the best measure of energy consumption and battery usage?</a:t>
            </a:r>
          </a:p>
          <a:p>
            <a:pPr lvl="1"/>
            <a:r>
              <a:rPr lang="en-US" dirty="0">
                <a:latin typeface="+mj-lt"/>
              </a:rPr>
              <a:t>Change in battery state of charge?</a:t>
            </a:r>
          </a:p>
          <a:p>
            <a:pPr lvl="2"/>
            <a:r>
              <a:rPr lang="en-US" dirty="0">
                <a:latin typeface="+mj-lt"/>
              </a:rPr>
              <a:t>Average Energy: kW</a:t>
            </a:r>
          </a:p>
          <a:p>
            <a:pPr lvl="3"/>
            <a:r>
              <a:rPr lang="en-US" dirty="0">
                <a:latin typeface="+mj-lt"/>
              </a:rPr>
              <a:t>Does not get effected from battery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, universal for any battery</a:t>
            </a:r>
          </a:p>
          <a:p>
            <a:r>
              <a:rPr lang="en-US" dirty="0">
                <a:latin typeface="+mj-lt"/>
              </a:rPr>
              <a:t>How do different takeoff power settings affect battery consumption?</a:t>
            </a:r>
          </a:p>
          <a:p>
            <a:pPr lvl="1"/>
            <a:r>
              <a:rPr lang="en-US" dirty="0">
                <a:latin typeface="+mj-lt"/>
              </a:rPr>
              <a:t>Which is more efficient (High vs Low Power Setting)?</a:t>
            </a:r>
          </a:p>
          <a:p>
            <a:pPr lvl="2"/>
            <a:r>
              <a:rPr lang="en-US" dirty="0">
                <a:latin typeface="+mj-lt"/>
              </a:rPr>
              <a:t>Both provide very similar discharge and energy consumption rates, despite varying power and stage duration</a:t>
            </a:r>
          </a:p>
          <a:p>
            <a:pPr lvl="2"/>
            <a:r>
              <a:rPr lang="en-US" dirty="0">
                <a:latin typeface="+mj-lt"/>
              </a:rPr>
              <a:t>A lower power setting would be more optimal to minimize strain in the battery, theoretically reducing battery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 degradation</a:t>
            </a:r>
          </a:p>
          <a:p>
            <a:pPr lvl="1"/>
            <a:endParaRPr lang="en-US" sz="1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9</a:t>
            </a:fld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0824508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7934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Custom 7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8000B3"/>
      </a:accent1>
      <a:accent2>
        <a:srgbClr val="0C0C0C"/>
      </a:accent2>
      <a:accent3>
        <a:srgbClr val="BD33DA"/>
      </a:accent3>
      <a:accent4>
        <a:srgbClr val="CFB3E6"/>
      </a:accent4>
      <a:accent5>
        <a:srgbClr val="57058A"/>
      </a:accent5>
      <a:accent6>
        <a:srgbClr val="F1F1F1"/>
      </a:accent6>
      <a:hlink>
        <a:srgbClr val="57058A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ound_tests_2024" id="{E1909CB9-6A2E-6D4A-83AC-E527E8436ADC}" vid="{9B3D140F-7915-2C4F-9E14-26532AC0F2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93C794A18BBC4EA4E5065FA2BE3440" ma:contentTypeVersion="6" ma:contentTypeDescription="Create a new document." ma:contentTypeScope="" ma:versionID="fe17b8264fb77e3fdf1155ce5840a5f3">
  <xsd:schema xmlns:xsd="http://www.w3.org/2001/XMLSchema" xmlns:xs="http://www.w3.org/2001/XMLSchema" xmlns:p="http://schemas.microsoft.com/office/2006/metadata/properties" xmlns:ns2="f9c4c000-8da3-4e7c-8fee-8febed0ba1d4" xmlns:ns3="d1ae5218-04ae-4ea7-8801-d7657fc41329" targetNamespace="http://schemas.microsoft.com/office/2006/metadata/properties" ma:root="true" ma:fieldsID="eacda02bb410c85b3a9b3bacb871a714" ns2:_="" ns3:_="">
    <xsd:import namespace="f9c4c000-8da3-4e7c-8fee-8febed0ba1d4"/>
    <xsd:import namespace="d1ae5218-04ae-4ea7-8801-d7657fc413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4c000-8da3-4e7c-8fee-8febed0ba1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ae5218-04ae-4ea7-8801-d7657fc4132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454758-C5B2-4325-AB76-383DDED8AC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c4c000-8da3-4e7c-8fee-8febed0ba1d4"/>
    <ds:schemaRef ds:uri="d1ae5218-04ae-4ea7-8801-d7657fc413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DBF3EE-FBD2-47C2-B431-8CCF18B408A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A07777-B3E3-4762-8CB8-40FA61A2686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UofWaterloo_WhiteBkgrd</Template>
  <TotalTime>2754</TotalTime>
  <Words>568</Words>
  <Application>Microsoft Office PowerPoint</Application>
  <PresentationFormat>Widescreen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Barlow Condensed</vt:lpstr>
      <vt:lpstr>Calibri</vt:lpstr>
      <vt:lpstr>Georgia</vt:lpstr>
      <vt:lpstr>Verdana</vt:lpstr>
      <vt:lpstr>Wingdings</vt:lpstr>
      <vt:lpstr>UofWaterloo_WhiteBkgrd</vt:lpstr>
      <vt:lpstr>Take0ff Energy Consumption</vt:lpstr>
      <vt:lpstr>Questions Addressed</vt:lpstr>
      <vt:lpstr>Filtering The Takeoff Stages</vt:lpstr>
      <vt:lpstr>Power Setting Based on Altitude</vt:lpstr>
      <vt:lpstr>Power Separation</vt:lpstr>
      <vt:lpstr>Separating the Takeoff Stages</vt:lpstr>
      <vt:lpstr>Average Energy Consumption</vt:lpstr>
      <vt:lpstr>Average Energy Consumption (Vancouver)</vt:lpstr>
      <vt:lpstr>Questions Addressed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analysis</dc:title>
  <dc:creator>Dahui Kang</dc:creator>
  <cp:lastModifiedBy>Nathan Lu</cp:lastModifiedBy>
  <cp:revision>17</cp:revision>
  <dcterms:created xsi:type="dcterms:W3CDTF">2024-03-26T14:38:18Z</dcterms:created>
  <dcterms:modified xsi:type="dcterms:W3CDTF">2024-06-12T17:54:14Z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0x010100C193C794A18BBC4EA4E5065FA2BE3440</vt:lpwstr>
  </property>
</Properties>
</file>