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</p:sldMasterIdLst>
  <p:notesMasterIdLst>
    <p:notesMasterId r:id="rId44"/>
  </p:notesMasterIdLst>
  <p:handoutMasterIdLst>
    <p:handoutMasterId r:id="rId45"/>
  </p:handoutMasterIdLst>
  <p:sldIdLst>
    <p:sldId id="256" r:id="rId5"/>
    <p:sldId id="330" r:id="rId6"/>
    <p:sldId id="338" r:id="rId7"/>
    <p:sldId id="324" r:id="rId8"/>
    <p:sldId id="344" r:id="rId9"/>
    <p:sldId id="332" r:id="rId10"/>
    <p:sldId id="343" r:id="rId11"/>
    <p:sldId id="348" r:id="rId12"/>
    <p:sldId id="349" r:id="rId13"/>
    <p:sldId id="350" r:id="rId14"/>
    <p:sldId id="351" r:id="rId15"/>
    <p:sldId id="352" r:id="rId16"/>
    <p:sldId id="345" r:id="rId17"/>
    <p:sldId id="333" r:id="rId18"/>
    <p:sldId id="340" r:id="rId19"/>
    <p:sldId id="365" r:id="rId20"/>
    <p:sldId id="353" r:id="rId21"/>
    <p:sldId id="354" r:id="rId22"/>
    <p:sldId id="355" r:id="rId23"/>
    <p:sldId id="356" r:id="rId24"/>
    <p:sldId id="346" r:id="rId25"/>
    <p:sldId id="335" r:id="rId26"/>
    <p:sldId id="341" r:id="rId27"/>
    <p:sldId id="366" r:id="rId28"/>
    <p:sldId id="357" r:id="rId29"/>
    <p:sldId id="358" r:id="rId30"/>
    <p:sldId id="359" r:id="rId31"/>
    <p:sldId id="360" r:id="rId32"/>
    <p:sldId id="347" r:id="rId33"/>
    <p:sldId id="334" r:id="rId34"/>
    <p:sldId id="342" r:id="rId35"/>
    <p:sldId id="367" r:id="rId36"/>
    <p:sldId id="361" r:id="rId37"/>
    <p:sldId id="362" r:id="rId38"/>
    <p:sldId id="363" r:id="rId39"/>
    <p:sldId id="364" r:id="rId40"/>
    <p:sldId id="336" r:id="rId41"/>
    <p:sldId id="337" r:id="rId42"/>
    <p:sldId id="29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2843506-70AB-4825-94E1-D767966D99A8}">
          <p14:sldIdLst>
            <p14:sldId id="256"/>
            <p14:sldId id="330"/>
            <p14:sldId id="338"/>
            <p14:sldId id="324"/>
            <p14:sldId id="344"/>
            <p14:sldId id="332"/>
            <p14:sldId id="343"/>
            <p14:sldId id="348"/>
            <p14:sldId id="349"/>
            <p14:sldId id="350"/>
            <p14:sldId id="351"/>
            <p14:sldId id="352"/>
            <p14:sldId id="345"/>
            <p14:sldId id="333"/>
            <p14:sldId id="340"/>
            <p14:sldId id="365"/>
            <p14:sldId id="353"/>
            <p14:sldId id="354"/>
            <p14:sldId id="355"/>
            <p14:sldId id="356"/>
            <p14:sldId id="346"/>
            <p14:sldId id="335"/>
            <p14:sldId id="341"/>
            <p14:sldId id="366"/>
            <p14:sldId id="357"/>
            <p14:sldId id="358"/>
            <p14:sldId id="359"/>
            <p14:sldId id="360"/>
            <p14:sldId id="347"/>
            <p14:sldId id="334"/>
            <p14:sldId id="342"/>
            <p14:sldId id="367"/>
            <p14:sldId id="361"/>
            <p14:sldId id="362"/>
            <p14:sldId id="363"/>
            <p14:sldId id="364"/>
            <p14:sldId id="336"/>
            <p14:sldId id="337"/>
            <p14:sldId id="29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3F00"/>
    <a:srgbClr val="FFFFFF"/>
    <a:srgbClr val="E4B429"/>
    <a:srgbClr val="FFD54F"/>
    <a:srgbClr val="FFEA3D"/>
    <a:srgbClr val="FFFFAA"/>
    <a:srgbClr val="E0249A"/>
    <a:srgbClr val="0073CF"/>
    <a:srgbClr val="57068C"/>
    <a:srgbClr val="FFD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72CFD7-5747-4B02-AADA-C11F71E454E4}" v="1221" dt="2024-07-10T16:41:57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00" autoAdjust="0"/>
    <p:restoredTop sz="96327"/>
  </p:normalViewPr>
  <p:slideViewPr>
    <p:cSldViewPr snapToGrid="0">
      <p:cViewPr varScale="1">
        <p:scale>
          <a:sx n="46" d="100"/>
          <a:sy n="46" d="100"/>
        </p:scale>
        <p:origin x="53" y="79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0E4E57-1CF6-4440-8310-3CBE926400C3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33DC02-E926-F143-BEA7-834664C012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24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8E97C-1779-4CEE-80D0-5BBB1AC4023D}" type="datetimeFigureOut">
              <a:rPr lang="en-US" smtClean="0"/>
              <a:t>7/10/2024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EF7D1-689C-4BC1-B59B-4A4CE078EC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43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0DF486-3438-A340-9F75-BB86BE289D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605660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Rectangle 18"/>
          <p:cNvSpPr/>
          <p:nvPr userDrawn="1"/>
        </p:nvSpPr>
        <p:spPr>
          <a:xfrm>
            <a:off x="1" y="198582"/>
            <a:ext cx="3082197" cy="1985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 userDrawn="1"/>
        </p:nvSpPr>
        <p:spPr>
          <a:xfrm>
            <a:off x="3050818" y="198582"/>
            <a:ext cx="3047061" cy="1985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 userDrawn="1"/>
        </p:nvSpPr>
        <p:spPr>
          <a:xfrm>
            <a:off x="6097879" y="198582"/>
            <a:ext cx="3047061" cy="1985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 userDrawn="1"/>
        </p:nvSpPr>
        <p:spPr>
          <a:xfrm>
            <a:off x="9144939" y="198582"/>
            <a:ext cx="3047061" cy="19858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 userDrawn="1"/>
        </p:nvSpPr>
        <p:spPr>
          <a:xfrm>
            <a:off x="0" y="0"/>
            <a:ext cx="12191999" cy="198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227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/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BBE1A07C-8552-0542-9BF7-2A61006340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" y="5598000"/>
            <a:ext cx="45674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35470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7842B6A-813C-FA45-B88D-CE413A77FF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9254931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2895226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ack with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094124" y="397164"/>
            <a:ext cx="6097876" cy="6460836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2740" y="1028940"/>
            <a:ext cx="5486243" cy="1474115"/>
          </a:xfrm>
        </p:spPr>
        <p:txBody>
          <a:bodyPr lIns="0"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740" y="4266821"/>
            <a:ext cx="5486243" cy="666549"/>
          </a:xfrm>
        </p:spPr>
        <p:txBody>
          <a:bodyPr lIns="0" anchor="t">
            <a:normAutofit/>
          </a:bodyPr>
          <a:lstStyle>
            <a:lvl1pPr marL="0" indent="0" algn="l">
              <a:buNone/>
              <a:defRPr sz="1500" b="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2740" y="2642329"/>
            <a:ext cx="1182916" cy="377962"/>
          </a:xfrm>
          <a:solidFill>
            <a:schemeClr val="accent1"/>
          </a:solidFill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318C6E2-4AA5-436E-9815-715E9B2235FA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623674" y="6377231"/>
            <a:ext cx="4293708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48416" y="6377231"/>
            <a:ext cx="553900" cy="250337"/>
          </a:xfrm>
        </p:spPr>
        <p:txBody>
          <a:bodyPr/>
          <a:lstStyle>
            <a:lvl1pPr algn="ctr"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oup 16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9" name="Rectangle 18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0F173A6-3ACA-4942-AF2C-D0B120EE61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" y="5598000"/>
            <a:ext cx="4567499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6763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4B0C9-B47E-4B33-A656-C78D1805DA95}" type="datetime1">
              <a:rPr lang="en-US" smtClean="0"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2321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_M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407696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1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8908224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2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10408752" y="685060"/>
            <a:ext cx="1420859" cy="286052"/>
          </a:xfrm>
        </p:spPr>
        <p:txBody>
          <a:bodyPr anchor="ctr">
            <a:noAutofit/>
          </a:bodyPr>
          <a:lstStyle>
            <a:lvl1pPr marL="0" indent="0" algn="ctr">
              <a:buNone/>
              <a:defRPr sz="1100" b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MENU ITEM 3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8C228CE-C572-4AF5-9728-AA6E475873DD}" type="datetime1">
              <a:rPr lang="en-US" smtClean="0"/>
              <a:t>7/10/2024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9883" y="434108"/>
            <a:ext cx="7046081" cy="895927"/>
          </a:xfrm>
        </p:spPr>
        <p:txBody>
          <a:bodyPr/>
          <a:lstStyle>
            <a:lvl1pPr>
              <a:defRPr b="1" cap="all" baseline="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7036257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2" y="1709738"/>
            <a:ext cx="9399507" cy="2852737"/>
          </a:xfrm>
        </p:spPr>
        <p:txBody>
          <a:bodyPr anchor="b">
            <a:normAutofit/>
          </a:bodyPr>
          <a:lstStyle>
            <a:lvl1pPr algn="l">
              <a:defRPr sz="40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4589463"/>
            <a:ext cx="9399507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D43AC-4B94-471D-A170-0D88FCD1FB54}" type="datetime1">
              <a:rPr lang="en-US" smtClean="0"/>
              <a:t>7/10/2024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21156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60521" y="3228200"/>
            <a:ext cx="8770620" cy="1212056"/>
          </a:xfrm>
        </p:spPr>
        <p:txBody>
          <a:bodyPr anchor="b">
            <a:noAutofit/>
          </a:bodyPr>
          <a:lstStyle>
            <a:lvl1pPr algn="l">
              <a:defRPr sz="4000" b="1" cap="all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</a:t>
            </a:r>
            <a:br>
              <a:rPr lang="en-US"/>
            </a:br>
            <a:r>
              <a:rPr lang="en-US"/>
              <a:t>SECTION TITLE SLIDE OPTION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960521" y="4448086"/>
            <a:ext cx="8770620" cy="666549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2EFF9E2-52BD-4C8D-9C57-79F661DB94A1}" type="datetime1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274830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9882" y="1413164"/>
            <a:ext cx="5586855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992" y="1413164"/>
            <a:ext cx="5658620" cy="4590472"/>
          </a:xfrm>
        </p:spPr>
        <p:txBody>
          <a:bodyPr/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881F3-AB4F-4026-8B03-DBF7475676B1}" type="datetime1">
              <a:rPr lang="en-US" smtClean="0"/>
              <a:t>7/10/2024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51648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1" y="1396192"/>
            <a:ext cx="5542713" cy="670270"/>
          </a:xfrm>
        </p:spPr>
        <p:txBody>
          <a:bodyPr anchor="b">
            <a:noAutofit/>
          </a:bodyPr>
          <a:lstStyle>
            <a:lvl1pPr marL="0" indent="0">
              <a:buNone/>
              <a:defRPr sz="2800" b="1" baseline="0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881" y="2184400"/>
            <a:ext cx="5542713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6154" y="1396192"/>
            <a:ext cx="5593458" cy="670270"/>
          </a:xfrm>
        </p:spPr>
        <p:txBody>
          <a:bodyPr anchor="b">
            <a:normAutofit/>
          </a:bodyPr>
          <a:lstStyle>
            <a:lvl1pPr marL="0" indent="0">
              <a:buNone/>
              <a:defRPr sz="28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6154" y="2184400"/>
            <a:ext cx="5593458" cy="3846945"/>
          </a:xfrm>
        </p:spPr>
        <p:txBody>
          <a:bodyPr>
            <a:normAutofit/>
          </a:bodyPr>
          <a:lstStyle>
            <a:lvl1pPr marL="288925" indent="-288925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2000"/>
            </a:lvl1pPr>
            <a:lvl2pPr marL="6858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800"/>
            </a:lvl2pPr>
            <a:lvl3pPr marL="11430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600"/>
            </a:lvl3pPr>
            <a:lvl4pPr marL="16002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4pPr>
            <a:lvl5pPr marL="2057400" indent="-228600">
              <a:spcBef>
                <a:spcPts val="800"/>
              </a:spcBef>
              <a:spcAft>
                <a:spcPts val="800"/>
              </a:spcAft>
              <a:buFont typeface="Wingdings" charset="2"/>
              <a:buChar char="§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259883" y="434108"/>
            <a:ext cx="11569729" cy="89592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F432B-3FBE-4889-963D-BF97BFBB7D3F}" type="datetime1">
              <a:rPr lang="en-US" smtClean="0"/>
              <a:t>7/10/2024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9864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CCC04-1E76-41EE-A8AC-75AD85313D09}" type="datetime1">
              <a:rPr lang="en-US" smtClean="0"/>
              <a:t>7/10/2024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487075"/>
      </p:ext>
    </p:extLst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4A9E-84AC-4661-9381-CC35B09E47F7}" type="datetime1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65608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_NoBkg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1E55829F-8847-4C2A-8DD0-690EAD78E53F}" type="datetime1">
              <a:rPr lang="en-US" smtClean="0"/>
              <a:t>7/10/2024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E2D4160-4A25-214B-B0DD-33C1D7760F82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FFB46B-498F-AE4A-B9A7-4C6AB5B81AA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77A2065-ED1B-724B-9396-45C1760E61EB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D3DEAB-7BCF-4A44-8C12-F5B4318DA82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30BD48-AC82-AD43-8C23-93AE5272CAC7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026E371-D75A-604E-88BB-90AFCE90362A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87678416"/>
      </p:ext>
    </p:extLst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0071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393007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>
            <a:off x="393007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660400" y="2420360"/>
            <a:ext cx="10871200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8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393007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9AFB0B-41DD-F947-A857-F70C3043CB58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6CD61E-7E92-D14D-9C2B-ACA64B9951C1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7D0C72E-2BBA-454D-BD97-AC183A643FB8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AA61640-FDAF-4345-8014-B6E2CE4F6002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74264D-D990-F44D-9800-EA8DF5CA5159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6356CE-4984-C84D-82AE-A8CF95C81E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4198111"/>
      </p:ext>
    </p:extLst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xt or Quote with Phot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350285" y="807867"/>
            <a:ext cx="5440648" cy="54451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54362" y="1237675"/>
            <a:ext cx="4331855" cy="910202"/>
          </a:xfrm>
        </p:spPr>
        <p:txBody>
          <a:bodyPr anchor="b">
            <a:normAutofit/>
          </a:bodyPr>
          <a:lstStyle>
            <a:lvl1pPr algn="ctr">
              <a:defRPr sz="2800" b="1" cap="all" baseline="0"/>
            </a:lvl1pPr>
          </a:lstStyle>
          <a:p>
            <a:r>
              <a:rPr lang="en-US"/>
              <a:t>CONTEXT or THEME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59882" y="6335309"/>
            <a:ext cx="3887245" cy="250337"/>
          </a:xfrm>
        </p:spPr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479637" y="6335309"/>
            <a:ext cx="1016000" cy="250337"/>
          </a:xfrm>
        </p:spPr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544943" y="2409026"/>
            <a:ext cx="4950694" cy="211455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854362" y="4784725"/>
            <a:ext cx="4331855" cy="276225"/>
          </a:xfr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200" b="1" cap="all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54363" y="2244437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854363" y="4668983"/>
            <a:ext cx="4331855" cy="0"/>
          </a:xfrm>
          <a:prstGeom prst="line">
            <a:avLst/>
          </a:prstGeom>
          <a:ln w="15875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DF50DA-7B18-354A-ADC8-AE0388894B36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D30A8D4-6A5A-154F-B1A1-1EFA9143C0DF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ABD13B1-A03B-334C-8443-736D9DCC4D25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AE77912-2640-D24A-B1C4-A778B4DEDB3F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343BB98-0911-ED45-99DF-3136DA24B6D5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2DE1CE2-C376-9C45-BAD5-76783368CF28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317354"/>
      </p:ext>
    </p:extLst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/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5FDFC970-B950-4395-A833-47227D4A68CA}" type="datetime1">
              <a:rPr lang="en-US" smtClean="0"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9E5936-8DDE-404C-8287-66CA0AC7109D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089031-6A5B-9449-87D7-7C5CDDC88BC8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5F6C75A-9108-CA4F-8B66-B6CECA99FEA2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ECF4384-BA6E-6245-8D88-99ED543B1D4E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E6C63DE-AB2B-974A-A8EC-EA2603B292F2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A2A04B-66A2-9349-97DE-C751FF656059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7728093"/>
      </p:ext>
    </p:extLst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EF584D0-0125-DD43-839D-88959E97F904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85CBA6-CECB-7248-880F-540A646F768D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497680-B31E-0E4C-B43C-A3D9D08A4D9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B6DF40-54B9-3B43-AE5C-98DAA975F99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6860022-B720-0147-9D04-01AA504D7011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CE8E639-BFC3-EE48-B3BA-F70F153789ED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6828729"/>
      </p:ext>
    </p:extLst>
  </p:cSld>
  <p:clrMapOvr>
    <a:masterClrMapping/>
  </p:clrMapOvr>
  <p:transition spd="slow">
    <p:push dir="u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550988" y="3461559"/>
            <a:ext cx="9070975" cy="59848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err="1"/>
              <a:t>Subheader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7591" y="2382981"/>
            <a:ext cx="11569729" cy="1046019"/>
          </a:xfrm>
        </p:spPr>
        <p:txBody>
          <a:bodyPr anchor="b">
            <a:normAutofit/>
          </a:bodyPr>
          <a:lstStyle>
            <a:lvl1pPr algn="ctr">
              <a:defRPr sz="6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DIVIDER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FDFC970-B950-4395-A833-47227D4A68CA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C670234-9DB2-424E-8823-6A9DA1AF548A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BDA2F90-2B7E-6F47-8B0A-F3C4FF1C9A5E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927351F-0FF7-514A-8571-9BFEC244FE4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8888C3-9E25-4646-9D2D-E0F0EF3A8D49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511E38F-B04A-1742-90E3-F0CA0679C756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8ED03F5-8D14-604E-AF5A-BBD1209FB81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35022777"/>
      </p:ext>
    </p:extLst>
  </p:cSld>
  <p:clrMapOvr>
    <a:masterClrMapping/>
  </p:clrMapOvr>
  <p:transition spd="slow">
    <p:push dir="u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7225" y="4581236"/>
            <a:ext cx="10877550" cy="1597891"/>
          </a:xfrm>
          <a:noFill/>
        </p:spPr>
        <p:txBody>
          <a:bodyPr wrap="square" rtlCol="0" anchor="ctr" anchorCtr="1">
            <a:noAutofit/>
          </a:bodyPr>
          <a:lstStyle>
            <a:lvl1pPr algn="ctr">
              <a:defRPr lang="en-US" sz="1800" b="0" i="0" cap="none" baseline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/>
          <a:p>
            <a:fld id="{75D660D7-90CE-4513-A3CE-C070B9421917}" type="datetime1">
              <a:rPr lang="en-US" smtClean="0"/>
              <a:t>7/10/2024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8F22C7D-C1E2-3043-B369-F9AA670BF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7" y="985586"/>
            <a:ext cx="6096144" cy="407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677358"/>
      </p:ext>
    </p:extLst>
  </p:cSld>
  <p:clrMapOvr>
    <a:masterClrMapping/>
  </p:clrMapOvr>
  <p:transition spd="slow">
    <p:push dir="u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3425" y="4682836"/>
            <a:ext cx="10725150" cy="1559782"/>
          </a:xfrm>
          <a:noFill/>
        </p:spPr>
        <p:txBody>
          <a:bodyPr wrap="square" rtlCol="0" anchor="ctr" anchorCtr="1">
            <a:noAutofit/>
          </a:bodyPr>
          <a:lstStyle>
            <a:lvl1pPr marL="0" algn="ctr">
              <a:lnSpc>
                <a:spcPct val="75000"/>
              </a:lnSpc>
              <a:defRPr lang="en-US" sz="1800" b="0" i="0">
                <a:solidFill>
                  <a:schemeClr val="bg1">
                    <a:alpha val="81000"/>
                  </a:schemeClr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pPr marL="0" lvl="0" algn="ctr">
              <a:lnSpc>
                <a:spcPct val="75000"/>
              </a:lnSpc>
            </a:pPr>
            <a:r>
              <a:rPr lang="en-US"/>
              <a:t>Click to edit master closing slide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985586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2082862"/>
      </p:ext>
    </p:extLst>
  </p:cSld>
  <p:clrMapOvr>
    <a:masterClrMapping/>
  </p:clrMapOvr>
  <p:transition spd="slow">
    <p:push dir="u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losing Slide_Y+W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10751004" y="6335309"/>
            <a:ext cx="1181114" cy="250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A368D4B-3D0A-49AB-8EA2-2DC8CB4594DB}" type="datetime1">
              <a:rPr lang="en-US" smtClean="0"/>
              <a:pPr/>
              <a:t>7/10/2024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12827E-EAC5-3946-AC23-03E04566DD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928" y="799131"/>
            <a:ext cx="6096144" cy="4075200"/>
          </a:xfrm>
          <a:prstGeom prst="rect">
            <a:avLst/>
          </a:prstGeom>
          <a:effectLst/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6A1933B-4578-2C48-B386-B6DE7FB469A0}"/>
              </a:ext>
            </a:extLst>
          </p:cNvPr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18D5CB7-AA4B-854B-AB3D-49F9259FE929}"/>
                </a:ext>
              </a:extLst>
            </p:cNvPr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9D8DEA-9F1F-B348-8F9E-92515F1EA58F}"/>
                </a:ext>
              </a:extLst>
            </p:cNvPr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A2104A-FEE3-5D47-AFE9-8B7C33967231}"/>
                </a:ext>
              </a:extLst>
            </p:cNvPr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9469BE-AFF9-CF46-B1D0-26FE866E2BA0}"/>
                </a:ext>
              </a:extLst>
            </p:cNvPr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B5D989-FEE7-E847-A878-5126F541AF8B}"/>
                </a:ext>
              </a:extLst>
            </p:cNvPr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447C4EF9-A5C2-5947-9C94-BD3C8A011B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7315" y="4854114"/>
            <a:ext cx="1817370" cy="5143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B13A5EE-7ACD-F44B-B9D4-9E14E16B8E1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37482" y="5539328"/>
            <a:ext cx="3717036" cy="24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74654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5D18FC7-EB3D-A142-853C-7A6BC4BDE92C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9902" y="5990481"/>
            <a:ext cx="3262499" cy="900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9882" y="1413163"/>
            <a:ext cx="11569729" cy="45951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8014" y="6335309"/>
            <a:ext cx="1181114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5FDFC970-B950-4395-A833-47227D4A68CA}" type="datetime1">
              <a:rPr lang="en-US" smtClean="0"/>
              <a:t>7/10/2024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882" y="6335309"/>
            <a:ext cx="5226517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8000" y="6335309"/>
            <a:ext cx="1016000" cy="2503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PAGE  </a:t>
            </a:r>
            <a:fld id="{93005692-73BE-493E-93AB-ECD6027A7652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12192000" cy="397164"/>
            <a:chOff x="0" y="0"/>
            <a:chExt cx="12192000" cy="39716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" y="198582"/>
              <a:ext cx="3082197" cy="1985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3050818" y="198582"/>
              <a:ext cx="3047061" cy="19858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097879" y="198582"/>
              <a:ext cx="3047061" cy="19858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9144939" y="198582"/>
              <a:ext cx="3047061" cy="19858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0" y="0"/>
              <a:ext cx="12191999" cy="19858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73700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14" r:id="rId2"/>
    <p:sldLayoutId id="2147483715" r:id="rId3"/>
    <p:sldLayoutId id="2147483716" r:id="rId4"/>
    <p:sldLayoutId id="2147483670" r:id="rId5"/>
    <p:sldLayoutId id="2147483693" r:id="rId6"/>
    <p:sldLayoutId id="2147483671" r:id="rId7"/>
    <p:sldLayoutId id="2147483690" r:id="rId8"/>
    <p:sldLayoutId id="2147483672" r:id="rId9"/>
    <p:sldLayoutId id="2147483673" r:id="rId10"/>
    <p:sldLayoutId id="2147483674" r:id="rId11"/>
    <p:sldLayoutId id="2147483675" r:id="rId12"/>
    <p:sldLayoutId id="2147483710" r:id="rId13"/>
    <p:sldLayoutId id="2147483717" r:id="rId14"/>
    <p:sldLayoutId id="2147483718" r:id="rId15"/>
    <p:sldLayoutId id="2147483719" r:id="rId16"/>
    <p:sldLayoutId id="2147483720" r:id="rId17"/>
    <p:sldLayoutId id="2147483721" r:id="rId18"/>
    <p:sldLayoutId id="2147483712" r:id="rId19"/>
    <p:sldLayoutId id="2147483713" r:id="rId20"/>
    <p:sldLayoutId id="2147483723" r:id="rId21"/>
  </p:sldLayoutIdLst>
  <p:transition spd="slow">
    <p:push dir="u"/>
  </p:transition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925" indent="-288925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Clr>
          <a:schemeClr val="tx1"/>
        </a:buClr>
        <a:buSzPct val="85000"/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Take0ff Power And Energy Performance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1600" dirty="0">
                <a:latin typeface="+mj-lt"/>
              </a:rPr>
              <a:t>Nathan Lu</a:t>
            </a:r>
          </a:p>
          <a:p>
            <a:r>
              <a:rPr lang="en-US" sz="1600" dirty="0">
                <a:latin typeface="+mj-lt"/>
              </a:rPr>
              <a:t>Management Engineering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452739" y="2642329"/>
            <a:ext cx="1349427" cy="377962"/>
          </a:xfrm>
        </p:spPr>
        <p:txBody>
          <a:bodyPr/>
          <a:lstStyle/>
          <a:p>
            <a:r>
              <a:rPr lang="en-US" sz="1600" dirty="0">
                <a:latin typeface="Barlow Condensed" panose="00000506000000000000" pitchFamily="2" charset="0"/>
              </a:rPr>
              <a:t>July 10, 2024</a:t>
            </a:r>
          </a:p>
        </p:txBody>
      </p:sp>
      <p:pic>
        <p:nvPicPr>
          <p:cNvPr id="6146" name="Picture 2" descr="Pipistrel Velis Electro - Wikipedia">
            <a:extLst>
              <a:ext uri="{FF2B5EF4-FFF2-40B4-BE49-F238E27FC236}">
                <a16:creationId xmlns:a16="http://schemas.microsoft.com/office/drawing/2014/main" id="{51C94234-0641-B766-E93A-FD30DF647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218" y="2790224"/>
            <a:ext cx="5153812" cy="3435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86365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Updates From Last Meeting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838" y="1413164"/>
            <a:ext cx="5574324" cy="4590472"/>
          </a:xfrm>
        </p:spPr>
        <p:txBody>
          <a:bodyPr/>
          <a:lstStyle/>
          <a:p>
            <a:r>
              <a:rPr lang="en-US" dirty="0">
                <a:latin typeface="+mj-lt"/>
              </a:rPr>
              <a:t>Included all previous flight data instead of flights from this spring.</a:t>
            </a:r>
          </a:p>
          <a:p>
            <a:r>
              <a:rPr lang="en-US" dirty="0">
                <a:latin typeface="+mj-lt"/>
              </a:rPr>
              <a:t>Successfully filtered out standing vs rolling stages.</a:t>
            </a:r>
          </a:p>
          <a:p>
            <a:pPr lvl="1"/>
            <a:r>
              <a:rPr lang="en-US" dirty="0">
                <a:latin typeface="+mj-lt"/>
              </a:rPr>
              <a:t>Completely reworked calculation algorithms.</a:t>
            </a:r>
          </a:p>
          <a:p>
            <a:pPr lvl="2"/>
            <a:r>
              <a:rPr lang="en-GB" dirty="0">
                <a:latin typeface="+mj-lt"/>
              </a:rPr>
              <a:t>Significantly improved accuracy and eliminated irregular altitude discrepancies, effectively removing the need for theoretical calculations that might be inaccurate due to other parameters.</a:t>
            </a: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</a:t>
            </a:fld>
            <a:endParaRPr lang="en-US" sz="1200" dirty="0">
              <a:latin typeface="+mj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5792704-ED1E-AD17-8732-A249C09B8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74" y="1187404"/>
            <a:ext cx="5868518" cy="25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A0BB73D-7190-4331-04CD-AC8F51BEE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74" y="3767510"/>
            <a:ext cx="5870023" cy="22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017692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Steps In Data Cleaning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B7F9725A-96FF-8767-A8E0-C6D68A240C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56838" y="1413164"/>
            <a:ext cx="5574324" cy="4590472"/>
          </a:xfrm>
        </p:spPr>
        <p:txBody>
          <a:bodyPr>
            <a:normAutofit lnSpcReduction="10000"/>
          </a:bodyPr>
          <a:lstStyle/>
          <a:p>
            <a:r>
              <a:rPr lang="en-GB" dirty="0">
                <a:latin typeface="+mj-lt"/>
              </a:rPr>
              <a:t>Using the cumulative </a:t>
            </a:r>
            <a:r>
              <a:rPr lang="en-GB" dirty="0" err="1">
                <a:latin typeface="+mj-lt"/>
              </a:rPr>
              <a:t>takeoff</a:t>
            </a:r>
            <a:r>
              <a:rPr lang="en-GB" dirty="0">
                <a:latin typeface="+mj-lt"/>
              </a:rPr>
              <a:t> </a:t>
            </a:r>
            <a:r>
              <a:rPr lang="en-GB" dirty="0" err="1">
                <a:latin typeface="+mj-lt"/>
              </a:rPr>
              <a:t>dataframe</a:t>
            </a:r>
            <a:r>
              <a:rPr lang="en-GB" dirty="0">
                <a:latin typeface="+mj-lt"/>
              </a:rPr>
              <a:t> I initially created, I classified each </a:t>
            </a:r>
            <a:r>
              <a:rPr lang="en-GB" dirty="0" err="1">
                <a:latin typeface="+mj-lt"/>
              </a:rPr>
              <a:t>takeoff</a:t>
            </a:r>
            <a:r>
              <a:rPr lang="en-GB" dirty="0">
                <a:latin typeface="+mj-lt"/>
              </a:rPr>
              <a:t> by </a:t>
            </a:r>
            <a:r>
              <a:rPr lang="en-GB" dirty="0" err="1">
                <a:latin typeface="+mj-lt"/>
              </a:rPr>
              <a:t>analyzing</a:t>
            </a:r>
            <a:r>
              <a:rPr lang="en-GB" dirty="0">
                <a:latin typeface="+mj-lt"/>
              </a:rPr>
              <a:t> the previous value. If the previous value was greater than the current index, the previous index would be marked as the endpoint of the previous </a:t>
            </a:r>
            <a:r>
              <a:rPr lang="en-GB" dirty="0" err="1">
                <a:latin typeface="+mj-lt"/>
              </a:rPr>
              <a:t>takeoff</a:t>
            </a:r>
            <a:r>
              <a:rPr lang="en-GB" dirty="0">
                <a:latin typeface="+mj-lt"/>
              </a:rPr>
              <a:t>, and so on.</a:t>
            </a:r>
          </a:p>
          <a:p>
            <a:r>
              <a:rPr lang="en-US" dirty="0">
                <a:latin typeface="+mj-lt"/>
              </a:rPr>
              <a:t>From the collected indexes, I am able to classify each takeoff and find the time it takes from the start to the end of the takeoff run. </a:t>
            </a:r>
          </a:p>
          <a:p>
            <a:r>
              <a:rPr lang="en-US" dirty="0">
                <a:latin typeface="+mj-lt"/>
              </a:rPr>
              <a:t>Using the slope, I can determine the time it takes reach a certain altitude and energy based off average power.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</a:t>
            </a:fld>
            <a:endParaRPr lang="en-US" sz="1200" dirty="0">
              <a:latin typeface="+mj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05792704-ED1E-AD17-8732-A249C09B8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74" y="1187404"/>
            <a:ext cx="5868518" cy="2520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3A0BB73D-7190-4331-04CD-AC8F51BEE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74" y="3767510"/>
            <a:ext cx="5870023" cy="228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3345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010729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How do various power settings affect the climb rate?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 want a relatively high correlation value (0.6+)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 want the lowest change of increased time to reach altitude per drop in power (kW).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Any experimental difference between standing and rolling takeoff?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Theoretical states a 1% difference.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How do other factors affect the performance?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Weather.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Battery State of Health.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4</a:t>
            </a:fld>
            <a:endParaRPr lang="en-US" sz="12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F369E-C18D-558D-DF2B-0BF298013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889" y="3682850"/>
            <a:ext cx="3889722" cy="189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0745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579BC6-7590-9323-BDF2-67336A1AC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>
                <a:latin typeface="+mj-lt"/>
              </a:rPr>
              <a:t>Measured to 175 ft, 300 ft, and 900 ft Altitude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7B4C1B-61E7-552E-CA60-5109FAA5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Standing Power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10983-760A-487B-F01C-0B7CE1DA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Power and Energy Performance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F230E-2583-849D-9A8F-52913AB7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69528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Power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6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275" y="1222497"/>
            <a:ext cx="5983124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3687131"/>
            <a:ext cx="5976045" cy="248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873286"/>
              </p:ext>
            </p:extLst>
          </p:nvPr>
        </p:nvGraphicFramePr>
        <p:xfrm>
          <a:off x="6318698" y="1664785"/>
          <a:ext cx="574213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-0.009360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-0.782930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-0.045455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-0.772004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-0.006997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-0.717365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-0.034320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-0.716656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-0.007989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-0.773154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-0.037093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-0.730215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-0.007401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-0.591081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-0.036478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-0.618482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30661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-0.006609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-0.715013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-0.030993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-0.713039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-0.005101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-0.528959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-0.026059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-0.500578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-0.008577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-0.594062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-0.041304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-0.586845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8200057"/>
              </p:ext>
            </p:extLst>
          </p:nvPr>
        </p:nvGraphicFramePr>
        <p:xfrm>
          <a:off x="7467124" y="660420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-0.007445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-0.680604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-0.035744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-0.671812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823352"/>
              </p:ext>
            </p:extLst>
          </p:nvPr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12569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Power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7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2376920"/>
            <a:ext cx="5976044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2803773"/>
          <a:ext cx="574213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Batt T  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13-18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-0.006876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-0.666106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-0.033788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-0.682898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18-23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-0.007359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-0.730265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-0.035258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-0.681672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23-28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-0.008584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-0.740539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-0.040331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-0.737145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28-33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-0.004341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-0.376279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-0.021748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-0.402458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/>
        </p:nvGraphicFramePr>
        <p:xfrm>
          <a:off x="7467124" y="1799408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-0.007445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-0.680604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-0.035744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-0.671812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2179569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993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34072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Moderate negative linear correlation between the time it takes to reach 175 ft and average power</a:t>
            </a:r>
          </a:p>
          <a:p>
            <a:r>
              <a:rPr lang="en-US" dirty="0">
                <a:latin typeface="+mj-lt"/>
              </a:rPr>
              <a:t>Strong correlation when grouped by OAT</a:t>
            </a:r>
          </a:p>
          <a:p>
            <a:pPr lvl="1"/>
            <a:r>
              <a:rPr lang="en-US" dirty="0">
                <a:latin typeface="+mj-lt"/>
              </a:rPr>
              <a:t>Temperatures 5-10°C yielded the worst performance </a:t>
            </a:r>
          </a:p>
          <a:p>
            <a:pPr lvl="1"/>
            <a:r>
              <a:rPr lang="en-US" dirty="0">
                <a:latin typeface="+mj-lt"/>
              </a:rPr>
              <a:t>10-25°C had slight variations but negligible.</a:t>
            </a:r>
          </a:p>
          <a:p>
            <a:r>
              <a:rPr lang="en-US" dirty="0">
                <a:latin typeface="+mj-lt"/>
              </a:rPr>
              <a:t>Weaker but moderate correlation between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differences</a:t>
            </a:r>
          </a:p>
          <a:p>
            <a:pPr lvl="1"/>
            <a:r>
              <a:rPr lang="en-US" dirty="0">
                <a:latin typeface="+mj-lt"/>
              </a:rPr>
              <a:t>Battery health ranges from 70-80% performed the worst compared to 80-100%</a:t>
            </a:r>
          </a:p>
          <a:p>
            <a:r>
              <a:rPr lang="en-US" dirty="0">
                <a:latin typeface="+mj-lt"/>
              </a:rPr>
              <a:t>Battery Temperatures had a moderately strong correlation to performance </a:t>
            </a:r>
          </a:p>
          <a:p>
            <a:pPr lvl="1"/>
            <a:r>
              <a:rPr lang="en-US" dirty="0">
                <a:latin typeface="+mj-lt"/>
              </a:rPr>
              <a:t>Data from 28-33°C had a weaker but moderate correlation.</a:t>
            </a:r>
          </a:p>
          <a:p>
            <a:pPr lvl="1"/>
            <a:r>
              <a:rPr lang="en-US" dirty="0">
                <a:latin typeface="+mj-lt"/>
              </a:rPr>
              <a:t>Higher battery temperatures (23-28°C) had the worst performance but not a significant difference compared to temperatures from 13-23°C</a:t>
            </a:r>
          </a:p>
          <a:p>
            <a:pPr lvl="1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1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1">
              <a:lnSpc>
                <a:spcPct val="70000"/>
              </a:lnSpc>
            </a:pPr>
            <a:endParaRPr lang="en-US" sz="1400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8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8" y="81760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climb rate as power decreases)</a:t>
            </a:r>
          </a:p>
        </p:txBody>
      </p:sp>
    </p:spTree>
    <p:extLst>
      <p:ext uri="{BB962C8B-B14F-4D97-AF65-F5344CB8AC3E}">
        <p14:creationId xmlns:p14="http://schemas.microsoft.com/office/powerpoint/2010/main" val="246732564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Power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9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1736" y="1222497"/>
            <a:ext cx="5926201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363" y="3687131"/>
            <a:ext cx="5918949" cy="248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Moderately strong correlation</a:t>
            </a:r>
          </a:p>
          <a:p>
            <a:pPr lvl="1"/>
            <a:r>
              <a:rPr lang="en-GB" dirty="0">
                <a:latin typeface="+mj-lt"/>
              </a:rPr>
              <a:t>Temperatures from 15-25°C yielded the best performance</a:t>
            </a: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+mj-lt"/>
              </a:rPr>
              <a:t>Moderately strong correlation</a:t>
            </a:r>
          </a:p>
          <a:p>
            <a:pPr lvl="1"/>
            <a:r>
              <a:rPr lang="en-GB" dirty="0">
                <a:latin typeface="+mj-lt"/>
              </a:rPr>
              <a:t>90-100% </a:t>
            </a:r>
            <a:r>
              <a:rPr lang="en-GB" dirty="0" err="1">
                <a:latin typeface="+mj-lt"/>
              </a:rPr>
              <a:t>SoH</a:t>
            </a:r>
            <a:r>
              <a:rPr lang="en-GB" dirty="0">
                <a:latin typeface="+mj-lt"/>
              </a:rPr>
              <a:t> had a smaller change in time compared to lower </a:t>
            </a:r>
            <a:r>
              <a:rPr lang="en-GB" dirty="0" err="1">
                <a:latin typeface="+mj-lt"/>
              </a:rPr>
              <a:t>SoH</a:t>
            </a:r>
            <a:r>
              <a:rPr lang="en-GB" dirty="0">
                <a:latin typeface="+mj-lt"/>
              </a:rPr>
              <a:t>, thus the best performer.</a:t>
            </a: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13545235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Power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10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243" y="2376920"/>
            <a:ext cx="5919189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+mj-lt"/>
              </a:rPr>
              <a:t>Strong correlation with battery temperatures from 13-28°C </a:t>
            </a:r>
          </a:p>
          <a:p>
            <a:pPr lvl="1"/>
            <a:r>
              <a:rPr lang="en-GB" dirty="0">
                <a:latin typeface="+mj-lt"/>
              </a:rPr>
              <a:t>28-33°C had a weak correlation</a:t>
            </a:r>
          </a:p>
          <a:p>
            <a:pPr lvl="1"/>
            <a:r>
              <a:rPr lang="en-GB" dirty="0">
                <a:latin typeface="+mj-lt"/>
              </a:rPr>
              <a:t>Temperatures from 13-23°C performed the best</a:t>
            </a: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91481538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Power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11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1736" y="1222497"/>
            <a:ext cx="5926201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363" y="3687131"/>
            <a:ext cx="5918949" cy="248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862262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Power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12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243" y="2376920"/>
            <a:ext cx="5919189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5028377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579BC6-7590-9323-BDF2-67336A1AC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>
                <a:latin typeface="+mj-lt"/>
              </a:rPr>
              <a:t>Measured to 175 ft, 300 ft, and 900 ft Altitude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7B4C1B-61E7-552E-CA60-5109FAA5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Standing Energy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10983-760A-487B-F01C-0B7CE1DA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Power and Energy Performance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F230E-2583-849D-9A8F-52913AB7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959082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Energy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14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857" y="1233897"/>
            <a:ext cx="5927960" cy="245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978" y="3697160"/>
            <a:ext cx="5927719" cy="2460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772043"/>
              </p:ext>
            </p:extLst>
          </p:nvPr>
        </p:nvGraphicFramePr>
        <p:xfrm>
          <a:off x="6318698" y="1664785"/>
          <a:ext cx="57421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-0.005842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-0.596316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-0.028908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-0.610373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-0.003302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-0.455694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-0.017066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-0.454462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-0.003669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-0.494353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-0.019389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-0.488648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-0.003891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-0.364342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-0.019589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-0.389206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377789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-0.002545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-0.385904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-0.013531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-0.404271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-0.001769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-0.203373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-0.009445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-0.205874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-0.005076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-0.403532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-0.024304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-0.391656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117531"/>
              </p:ext>
            </p:extLst>
          </p:nvPr>
        </p:nvGraphicFramePr>
        <p:xfrm>
          <a:off x="7467124" y="660420"/>
          <a:ext cx="4593704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1879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-0.003597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-0.416161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-0.018458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-0.423739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1946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0479390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Energy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15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2376920"/>
            <a:ext cx="5976045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2515"/>
              </p:ext>
            </p:extLst>
          </p:nvPr>
        </p:nvGraphicFramePr>
        <p:xfrm>
          <a:off x="6318698" y="2803773"/>
          <a:ext cx="574213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Batt T  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13-18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-0.003221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-0.402904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-0.016552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-0.414904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18-23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-0.003309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-0.440261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-0.017771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-0.426855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23-28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-0.004741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-0.532111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-0.023088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-0.527871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28-33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-0.000637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-0.058584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-0.004747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-0.095295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931478"/>
              </p:ext>
            </p:extLst>
          </p:nvPr>
        </p:nvGraphicFramePr>
        <p:xfrm>
          <a:off x="7467124" y="1799408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-0.003597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-0.416161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-0.018458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-0.423739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2179569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8445091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+mj-lt"/>
              </a:rPr>
              <a:t>Moderately weak correlation for average energy consumption vs average power</a:t>
            </a:r>
          </a:p>
          <a:p>
            <a:pPr lvl="1"/>
            <a:r>
              <a:rPr lang="en-US" dirty="0">
                <a:latin typeface="+mj-lt"/>
              </a:rPr>
              <a:t>This seems to be the case with all energy data</a:t>
            </a:r>
          </a:p>
          <a:p>
            <a:pPr lvl="1"/>
            <a:r>
              <a:rPr lang="en-US" dirty="0">
                <a:latin typeface="+mj-lt"/>
              </a:rPr>
              <a:t>Points are more spread out and show a slight negative correlation</a:t>
            </a:r>
          </a:p>
          <a:p>
            <a:r>
              <a:rPr lang="en-US" dirty="0">
                <a:latin typeface="+mj-lt"/>
              </a:rPr>
              <a:t>Low-Moderate correlation based on OAT</a:t>
            </a:r>
          </a:p>
          <a:p>
            <a:pPr lvl="1"/>
            <a:r>
              <a:rPr lang="en-US" dirty="0">
                <a:latin typeface="+mj-lt"/>
              </a:rPr>
              <a:t>Temperatures from 5-10°C had the worst performing flights while data from 10-25°C had similar performance</a:t>
            </a:r>
          </a:p>
          <a:p>
            <a:r>
              <a:rPr lang="en-US" dirty="0">
                <a:latin typeface="+mj-lt"/>
              </a:rPr>
              <a:t>Battery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had a low correlation on performance data</a:t>
            </a:r>
          </a:p>
          <a:p>
            <a:pPr lvl="1"/>
            <a:r>
              <a:rPr lang="en-US" dirty="0">
                <a:latin typeface="+mj-lt"/>
              </a:rPr>
              <a:t>State of health values from 70-80% performed significantly worse than values from 80-100% health</a:t>
            </a:r>
          </a:p>
          <a:p>
            <a:r>
              <a:rPr lang="en-US" dirty="0">
                <a:latin typeface="+mj-lt"/>
              </a:rPr>
              <a:t>Weak moderate correlation between battery temperature and energy</a:t>
            </a:r>
          </a:p>
          <a:p>
            <a:pPr lvl="1"/>
            <a:r>
              <a:rPr lang="en-US" dirty="0">
                <a:latin typeface="+mj-lt"/>
              </a:rPr>
              <a:t>Temperatures from 23-28°C had the greatest change of energy consumption (worst performer)</a:t>
            </a:r>
          </a:p>
          <a:p>
            <a:pPr lvl="1"/>
            <a:r>
              <a:rPr lang="en-US" dirty="0">
                <a:latin typeface="+mj-lt"/>
              </a:rPr>
              <a:t>28-33°C had very little correlation and 13-23°C had similar performance</a:t>
            </a: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16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4444592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Energy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17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275" y="1222497"/>
            <a:ext cx="5983123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3687131"/>
            <a:ext cx="5976045" cy="248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49016887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Energy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18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6" y="2376920"/>
            <a:ext cx="5976044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57093511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Energy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19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1736" y="1222497"/>
            <a:ext cx="5926201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363" y="3687131"/>
            <a:ext cx="5918949" cy="248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0101207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Standing Energy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20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243" y="2376920"/>
            <a:ext cx="5919189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819810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579BC6-7590-9323-BDF2-67336A1AC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>
                <a:latin typeface="+mj-lt"/>
              </a:rPr>
              <a:t>Measured to 175 ft, 300 ft, and 900 ft Altitude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7B4C1B-61E7-552E-CA60-5109FAA5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Rolling Power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10983-760A-487B-F01C-0B7CE1DA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Power and Energy Performance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F230E-2583-849D-9A8F-52913AB7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89319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Power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22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857" y="1222130"/>
            <a:ext cx="5927960" cy="2473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978" y="3685293"/>
            <a:ext cx="5927718" cy="2484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791534"/>
              </p:ext>
            </p:extLst>
          </p:nvPr>
        </p:nvGraphicFramePr>
        <p:xfrm>
          <a:off x="6318698" y="1664785"/>
          <a:ext cx="57421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-0.014743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-0.910509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-0.040058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-0.939934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-0.017018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-0.816248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-0.042112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-0.822308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-0.016075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-0.874691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-0.042886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-0.881729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-0.014925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-0.838583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-0.042900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-0.876831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6166211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-0.016843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-0.836518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-0.043505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-0.842735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-0.013932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-0.961432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-0.040638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-0.991695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-0.016123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-0.876310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-0.043432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-0.889345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667221"/>
              </p:ext>
            </p:extLst>
          </p:nvPr>
        </p:nvGraphicFramePr>
        <p:xfrm>
          <a:off x="7467124" y="660420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-0.015490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-0.858512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-0.878347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8624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Power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23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243" y="2376920"/>
            <a:ext cx="5919189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824401"/>
              </p:ext>
            </p:extLst>
          </p:nvPr>
        </p:nvGraphicFramePr>
        <p:xfrm>
          <a:off x="6318698" y="2803773"/>
          <a:ext cx="574213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Batt T  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13-18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-0.013545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-0.921968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-0.037079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-0.948761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18-23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-0.018996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-0.861186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-0.045261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-0.859241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23-28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-0.014408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-0.820089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-0.040598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-0.837261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28-33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-0.013210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-0.922959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-0.041305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-0.939316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849629"/>
              </p:ext>
            </p:extLst>
          </p:nvPr>
        </p:nvGraphicFramePr>
        <p:xfrm>
          <a:off x="7467124" y="1799408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-0.015490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-0.858512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-0.041981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-0.878347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2179569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5709695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340723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Very strong exponential negative correlation when analyzing rolling takeoff performance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When grouped by OAT, the strong correlation still stands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Very minimal differences however when comparing different temperatures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Strong correlation as well when grouping by battery health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Negligible variances between different health status</a:t>
            </a:r>
            <a:endParaRPr lang="en-US" sz="1600" dirty="0">
              <a:latin typeface="+mj-lt"/>
            </a:endParaRP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Battery temperature also has a strong correlation</a:t>
            </a:r>
          </a:p>
          <a:p>
            <a:pPr lvl="1">
              <a:lnSpc>
                <a:spcPct val="70000"/>
              </a:lnSpc>
            </a:pPr>
            <a:r>
              <a:rPr lang="en-US" dirty="0">
                <a:latin typeface="+mj-lt"/>
              </a:rPr>
              <a:t>Slight variances with temperatures from 13-18°C  performing the best but could be considered insignificant</a:t>
            </a:r>
          </a:p>
          <a:p>
            <a:pPr>
              <a:lnSpc>
                <a:spcPct val="70000"/>
              </a:lnSpc>
            </a:pPr>
            <a:r>
              <a:rPr lang="en-US" dirty="0">
                <a:latin typeface="+mj-lt"/>
              </a:rPr>
              <a:t>These low variability values are caused by the data points being tight altogether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24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8" y="81760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climb rate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365165678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Power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25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1736" y="1222497"/>
            <a:ext cx="5926201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363" y="3687131"/>
            <a:ext cx="5918949" cy="248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4315847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Power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26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243" y="2376920"/>
            <a:ext cx="5919189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46763489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Power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27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275" y="1222497"/>
            <a:ext cx="5983123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3687131"/>
            <a:ext cx="5976045" cy="248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66131660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Power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28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2376920"/>
            <a:ext cx="5976044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2485588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579BC6-7590-9323-BDF2-67336A1AC3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CA" dirty="0">
                <a:latin typeface="+mj-lt"/>
              </a:rPr>
              <a:t>Measured to 175 ft, 300 ft, and 900 ft Altitude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7B4C1B-61E7-552E-CA60-5109FAA5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Rolling Energy Performance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10983-760A-487B-F01C-0B7CE1DA8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Power and Energy Performance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F230E-2583-849D-9A8F-52913AB7F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53713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Energy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30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857" y="1233897"/>
            <a:ext cx="5927960" cy="2450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0978" y="3697160"/>
            <a:ext cx="5927719" cy="246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683504"/>
              </p:ext>
            </p:extLst>
          </p:nvPr>
        </p:nvGraphicFramePr>
        <p:xfrm>
          <a:off x="6318698" y="1664785"/>
          <a:ext cx="574213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OAT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5-10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-0.004887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-0.785536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-0.018296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-0.790179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10-15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-0.006358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-0.617323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-0.020625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-0.584001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-0.005606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-0.674827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-0.020812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-0.673030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20-25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-0.006140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-0.714707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-0.022659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-0.696524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ED0AA43-6015-59E4-6731-0E3047622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054652"/>
              </p:ext>
            </p:extLst>
          </p:nvPr>
        </p:nvGraphicFramePr>
        <p:xfrm>
          <a:off x="6318698" y="4152510"/>
          <a:ext cx="574213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 err="1">
                          <a:latin typeface="+mj-lt"/>
                        </a:rPr>
                        <a:t>SoH</a:t>
                      </a:r>
                      <a:r>
                        <a:rPr lang="en-CA" sz="1800" baseline="0" dirty="0">
                          <a:latin typeface="+mj-lt"/>
                        </a:rPr>
                        <a:t>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90-100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-0.006677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-0.671051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-0.022528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-0.683844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80-90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-0.005110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-0.961351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-0.019934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-0.973786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70-80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-0.005492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-0.688052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baseline="0" dirty="0">
                          <a:latin typeface="+mj-lt"/>
                        </a:rPr>
                        <a:t>-0.021071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1800" dirty="0">
                          <a:latin typeface="+mj-lt"/>
                        </a:rPr>
                        <a:t>-0.636339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096772"/>
              </p:ext>
            </p:extLst>
          </p:nvPr>
        </p:nvGraphicFramePr>
        <p:xfrm>
          <a:off x="7467124" y="660420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-0.005563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baseline="0" dirty="0">
                        <a:latin typeface="Barlow Condensed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baseline="0" dirty="0">
                        <a:latin typeface="Barlow Condensed (Headings)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baseline="0" dirty="0">
                        <a:latin typeface="Barlow Condensed (Headings)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19460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1040576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430494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Energy Performance (175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31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2376920"/>
            <a:ext cx="5976045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3BCE2C4-CCFE-02CF-3339-B56C82EDF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499076"/>
              </p:ext>
            </p:extLst>
          </p:nvPr>
        </p:nvGraphicFramePr>
        <p:xfrm>
          <a:off x="6318698" y="2803773"/>
          <a:ext cx="5742130" cy="184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1704441277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92231841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309488143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62637358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2643995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Batt T   (°C)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10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13-18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-0.004118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-0.740751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-0.015496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-0.763703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52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18-23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-0.006756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-0.668542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-0.022652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-0.648171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187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23-28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-0.005100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-0.601253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-0.019264-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-0.589458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99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28-33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-0.005426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-0.792189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-0.021276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-0.809196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947490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0AFDAF-0DFF-46B1-E43E-BD7E30C70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02236"/>
              </p:ext>
            </p:extLst>
          </p:nvPr>
        </p:nvGraphicFramePr>
        <p:xfrm>
          <a:off x="7467124" y="1799408"/>
          <a:ext cx="4593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213605406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2415290325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382188004"/>
                    </a:ext>
                  </a:extLst>
                </a:gridCol>
                <a:gridCol w="1148426">
                  <a:extLst>
                    <a:ext uri="{9D8B030D-6E8A-4147-A177-3AD203B41FA5}">
                      <a16:colId xmlns:a16="http://schemas.microsoft.com/office/drawing/2014/main" val="1854283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(LIN)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Slope (EXP)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R (EXP)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3362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-0.005603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+mj-lt"/>
                        </a:rPr>
                        <a:t>-0.674480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-0.020522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-0.670059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165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8B42C75-C76C-484C-7EB0-31FD32A7DBCF}"/>
              </a:ext>
            </a:extLst>
          </p:cNvPr>
          <p:cNvGraphicFramePr>
            <a:graphicFrameLocks noGrp="1"/>
          </p:cNvGraphicFramePr>
          <p:nvPr/>
        </p:nvGraphicFramePr>
        <p:xfrm>
          <a:off x="6318698" y="2179569"/>
          <a:ext cx="1148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426">
                  <a:extLst>
                    <a:ext uri="{9D8B030D-6E8A-4147-A177-3AD203B41FA5}">
                      <a16:colId xmlns:a16="http://schemas.microsoft.com/office/drawing/2014/main" val="939913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baseline="0" dirty="0">
                          <a:latin typeface="Barlow Condensed (Headings)"/>
                        </a:rPr>
                        <a:t>General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9039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5959503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5010730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Moderately strong correlation between energy consumption and rolling takeoff power averages</a:t>
            </a:r>
          </a:p>
          <a:p>
            <a:r>
              <a:rPr lang="en-US" dirty="0">
                <a:latin typeface="+mj-lt"/>
              </a:rPr>
              <a:t>OAT is moderately strong in correlation</a:t>
            </a:r>
          </a:p>
          <a:p>
            <a:pPr lvl="1"/>
            <a:r>
              <a:rPr lang="en-US" dirty="0">
                <a:latin typeface="+mj-lt"/>
              </a:rPr>
              <a:t>Data has low variance when classified with different outside temperatures</a:t>
            </a:r>
          </a:p>
          <a:p>
            <a:r>
              <a:rPr lang="en-US" dirty="0">
                <a:latin typeface="+mj-lt"/>
              </a:rPr>
              <a:t>Average Energy also has a moderately strong correlation</a:t>
            </a:r>
          </a:p>
          <a:p>
            <a:pPr lvl="1"/>
            <a:r>
              <a:rPr lang="en-US" dirty="0">
                <a:latin typeface="+mj-lt"/>
              </a:rPr>
              <a:t>Low variance as well when comparing </a:t>
            </a:r>
            <a:r>
              <a:rPr lang="en-US" dirty="0" err="1">
                <a:latin typeface="+mj-lt"/>
              </a:rPr>
              <a:t>SoH</a:t>
            </a:r>
            <a:r>
              <a:rPr lang="en-US" dirty="0">
                <a:latin typeface="+mj-lt"/>
              </a:rPr>
              <a:t> values</a:t>
            </a:r>
          </a:p>
          <a:p>
            <a:r>
              <a:rPr lang="en-US" dirty="0">
                <a:latin typeface="+mj-lt"/>
              </a:rPr>
              <a:t>Moderate correlation with battery temperatures</a:t>
            </a:r>
          </a:p>
          <a:p>
            <a:pPr lvl="1"/>
            <a:r>
              <a:rPr lang="en-US" dirty="0">
                <a:latin typeface="+mj-lt"/>
              </a:rPr>
              <a:t>Temperatures from 13-18°C performed slightly better compared to temperatures from 18-33°C </a:t>
            </a:r>
          </a:p>
          <a:p>
            <a:pPr lvl="2"/>
            <a:endParaRPr lang="en-US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32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932477" y="817601"/>
            <a:ext cx="72390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energy consumption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344505164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Energy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33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3275" y="1222497"/>
            <a:ext cx="5983123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3687131"/>
            <a:ext cx="5976045" cy="248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4434973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Energy Performance (300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34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66815" y="2376920"/>
            <a:ext cx="5976044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9546757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Energy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35</a:t>
            </a:fld>
            <a:endParaRPr lang="en-US" sz="12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9AEFF1-695C-573B-D34A-E8B86485D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1736" y="1222497"/>
            <a:ext cx="5926201" cy="2472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363" y="3687131"/>
            <a:ext cx="5918949" cy="248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036DE-285F-4626-8F3A-EA35B4F141CD}"/>
              </a:ext>
            </a:extLst>
          </p:cNvPr>
          <p:cNvSpPr txBox="1">
            <a:spLocks/>
          </p:cNvSpPr>
          <p:nvPr/>
        </p:nvSpPr>
        <p:spPr>
          <a:xfrm>
            <a:off x="6356838" y="1237317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56F0BA8-0AF3-6B11-B9E3-766E716D29A4}"/>
              </a:ext>
            </a:extLst>
          </p:cNvPr>
          <p:cNvSpPr txBox="1">
            <a:spLocks/>
          </p:cNvSpPr>
          <p:nvPr/>
        </p:nvSpPr>
        <p:spPr>
          <a:xfrm>
            <a:off x="6356838" y="3698389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33759546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883" y="434108"/>
            <a:ext cx="11569729" cy="895927"/>
          </a:xfrm>
        </p:spPr>
        <p:txBody>
          <a:bodyPr anchor="ctr">
            <a:normAutofit/>
          </a:bodyPr>
          <a:lstStyle/>
          <a:p>
            <a:r>
              <a:rPr lang="en-US" dirty="0"/>
              <a:t>Rolling Energy Performance (900 ft)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4697EF0D-D927-4537-28A1-DF627D615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8000" y="6335309"/>
            <a:ext cx="1016000" cy="250337"/>
          </a:xfrm>
        </p:spPr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36</a:t>
            </a:fld>
            <a:endParaRPr lang="en-US" sz="1200" dirty="0">
              <a:latin typeface="+mj-lt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F9E004C8-2B7B-76B5-A93D-5AE6B80A73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95243" y="2376920"/>
            <a:ext cx="5919189" cy="2470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034A7-59AC-98DD-469A-5D2160599377}"/>
              </a:ext>
            </a:extLst>
          </p:cNvPr>
          <p:cNvSpPr txBox="1">
            <a:spLocks/>
          </p:cNvSpPr>
          <p:nvPr/>
        </p:nvSpPr>
        <p:spPr>
          <a:xfrm>
            <a:off x="6444761" y="2482628"/>
            <a:ext cx="5574324" cy="20158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8925" indent="-288925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SzPct val="85000"/>
              <a:buFont typeface="Wingdings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+mj-lt"/>
              </a:rPr>
              <a:t>blank</a:t>
            </a:r>
            <a:endParaRPr lang="en-GB" dirty="0">
              <a:latin typeface="+mj-lt"/>
            </a:endParaRPr>
          </a:p>
          <a:p>
            <a:pPr lvl="2"/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5335272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Conclusions/Insights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2"/>
            <a:ext cx="11569729" cy="5340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dirty="0">
                <a:latin typeface="+mj-lt"/>
              </a:rPr>
              <a:t>How do various power settings affect the climb rate? </a:t>
            </a: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  <a:p>
            <a:pPr lvl="2">
              <a:lnSpc>
                <a:spcPct val="70000"/>
              </a:lnSpc>
            </a:pPr>
            <a:endParaRPr lang="en-US" dirty="0"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37</a:t>
            </a:fld>
            <a:endParaRPr lang="en-US" sz="12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33EAC-7144-F3F2-3CD6-FD31168FBDBA}"/>
              </a:ext>
            </a:extLst>
          </p:cNvPr>
          <p:cNvSpPr txBox="1"/>
          <p:nvPr/>
        </p:nvSpPr>
        <p:spPr>
          <a:xfrm>
            <a:off x="3192101" y="81717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dirty="0">
                <a:latin typeface="+mj-lt"/>
              </a:rPr>
              <a:t>(Performance is in climb rate as power decreases from 0-175 ft)</a:t>
            </a:r>
          </a:p>
        </p:txBody>
      </p:sp>
    </p:spTree>
    <p:extLst>
      <p:ext uri="{BB962C8B-B14F-4D97-AF65-F5344CB8AC3E}">
        <p14:creationId xmlns:p14="http://schemas.microsoft.com/office/powerpoint/2010/main" val="4048072871"/>
      </p:ext>
    </p:extLst>
  </p:cSld>
  <p:clrMapOvr>
    <a:masterClrMapping/>
  </p:clrMapOvr>
  <p:transition spd="slow">
    <p:push dir="u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To 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C6A5A-58D7-F5BC-E19D-43363C49B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882" y="1413163"/>
            <a:ext cx="11569729" cy="4838168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Other parameters to consider?</a:t>
            </a:r>
          </a:p>
          <a:p>
            <a:r>
              <a:rPr lang="en-US" dirty="0">
                <a:latin typeface="+mj-lt"/>
              </a:rPr>
              <a:t>How can we calculate efficiency?</a:t>
            </a:r>
          </a:p>
          <a:p>
            <a:pPr lvl="1"/>
            <a:r>
              <a:rPr lang="en-US" dirty="0">
                <a:latin typeface="+mj-lt"/>
              </a:rPr>
              <a:t>How much should each parameter be weighted?</a:t>
            </a:r>
          </a:p>
          <a:p>
            <a:pPr lvl="2"/>
            <a:r>
              <a:rPr lang="en-US" dirty="0">
                <a:latin typeface="+mj-lt"/>
              </a:rPr>
              <a:t>Time below a certain altitude</a:t>
            </a:r>
          </a:p>
          <a:p>
            <a:pPr lvl="2"/>
            <a:r>
              <a:rPr lang="en-US" dirty="0">
                <a:latin typeface="+mj-lt"/>
              </a:rPr>
              <a:t>Battery Strain</a:t>
            </a:r>
          </a:p>
          <a:p>
            <a:pPr lvl="2"/>
            <a:r>
              <a:rPr lang="en-US" dirty="0">
                <a:latin typeface="+mj-lt"/>
              </a:rPr>
              <a:t>Battery Discharge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200" dirty="0">
                <a:latin typeface="+mj-lt"/>
              </a:rPr>
              <a:t>PAGE  </a:t>
            </a:r>
            <a:fld id="{93005692-73BE-493E-93AB-ECD6027A7652}" type="slidenum">
              <a:rPr lang="en-US" sz="1200" smtClean="0">
                <a:latin typeface="+mj-lt"/>
              </a:rPr>
              <a:pPr/>
              <a:t>38</a:t>
            </a:fld>
            <a:endParaRPr lang="en-US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0772200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Takeoff Power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PAGE  </a:t>
            </a:r>
            <a:fld id="{93005692-73BE-493E-93AB-ECD6027A7652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3793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UofWaterloo_WhiteBkgrd">
  <a:themeElements>
    <a:clrScheme name="Custom 7">
      <a:dk1>
        <a:srgbClr val="000000"/>
      </a:dk1>
      <a:lt1>
        <a:srgbClr val="FFFFFF"/>
      </a:lt1>
      <a:dk2>
        <a:srgbClr val="757575"/>
      </a:dk2>
      <a:lt2>
        <a:srgbClr val="D6D6D6"/>
      </a:lt2>
      <a:accent1>
        <a:srgbClr val="8000B3"/>
      </a:accent1>
      <a:accent2>
        <a:srgbClr val="0C0C0C"/>
      </a:accent2>
      <a:accent3>
        <a:srgbClr val="BD33DA"/>
      </a:accent3>
      <a:accent4>
        <a:srgbClr val="CFB3E6"/>
      </a:accent4>
      <a:accent5>
        <a:srgbClr val="57058A"/>
      </a:accent5>
      <a:accent6>
        <a:srgbClr val="F1F1F1"/>
      </a:accent6>
      <a:hlink>
        <a:srgbClr val="57058A"/>
      </a:hlink>
      <a:folHlink>
        <a:srgbClr val="595959"/>
      </a:folHlink>
    </a:clrScheme>
    <a:fontScheme name="Custom 3">
      <a:majorFont>
        <a:latin typeface="Barlow Condensed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nd_tests_2024" id="{E1909CB9-6A2E-6D4A-83AC-E527E8436ADC}" vid="{9B3D140F-7915-2C4F-9E14-26532AC0F2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d09aaa-92c7-42c2-846a-76ca9620620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7B4E0BB56A4747ABA672F6B296B887" ma:contentTypeVersion="9" ma:contentTypeDescription="Create a new document." ma:contentTypeScope="" ma:versionID="c7111536c6c6e26f06593a2d9854311f">
  <xsd:schema xmlns:xsd="http://www.w3.org/2001/XMLSchema" xmlns:xs="http://www.w3.org/2001/XMLSchema" xmlns:p="http://schemas.microsoft.com/office/2006/metadata/properties" xmlns:ns3="4fd09aaa-92c7-42c2-846a-76ca96206204" xmlns:ns4="e93466c3-4607-40ed-b2ce-fff10fbc80c7" targetNamespace="http://schemas.microsoft.com/office/2006/metadata/properties" ma:root="true" ma:fieldsID="71983ef5e152f66a8984ecfb1ae11acd" ns3:_="" ns4:_="">
    <xsd:import namespace="4fd09aaa-92c7-42c2-846a-76ca96206204"/>
    <xsd:import namespace="e93466c3-4607-40ed-b2ce-fff10fbc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d09aaa-92c7-42c2-846a-76ca962062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3466c3-4607-40ed-b2ce-fff10fbc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A07777-B3E3-4762-8CB8-40FA61A268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DBF3EE-FBD2-47C2-B431-8CCF18B408AB}">
  <ds:schemaRefs>
    <ds:schemaRef ds:uri="http://purl.org/dc/terms/"/>
    <ds:schemaRef ds:uri="4fd09aaa-92c7-42c2-846a-76ca96206204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e93466c3-4607-40ed-b2ce-fff10fbc80c7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475DA63-C3F4-4ECC-9D60-55DB02C190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d09aaa-92c7-42c2-846a-76ca96206204"/>
    <ds:schemaRef ds:uri="e93466c3-4607-40ed-b2ce-fff10fbc80c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UofWaterloo_WhiteBkgrd</Template>
  <TotalTime>3747</TotalTime>
  <Words>1943</Words>
  <Application>Microsoft Office PowerPoint</Application>
  <PresentationFormat>Widescreen</PresentationFormat>
  <Paragraphs>532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Arial</vt:lpstr>
      <vt:lpstr>Barlow Condensed</vt:lpstr>
      <vt:lpstr>Barlow Condensed (Headings)</vt:lpstr>
      <vt:lpstr>Calibri</vt:lpstr>
      <vt:lpstr>Georgia</vt:lpstr>
      <vt:lpstr>Verdana</vt:lpstr>
      <vt:lpstr>Wingdings</vt:lpstr>
      <vt:lpstr>UofWaterloo_WhiteBkgrd</vt:lpstr>
      <vt:lpstr>Take0ff Power And Energy Performance</vt:lpstr>
      <vt:lpstr>Updates From Last Meeting</vt:lpstr>
      <vt:lpstr>Steps In Data Cleaning</vt:lpstr>
      <vt:lpstr>Questions Addressed</vt:lpstr>
      <vt:lpstr>Standing Power Performance</vt:lpstr>
      <vt:lpstr>Standing Power Performance (175 ft)</vt:lpstr>
      <vt:lpstr>Standing Power Performance (175 ft)</vt:lpstr>
      <vt:lpstr>Findings</vt:lpstr>
      <vt:lpstr>Standing Power Performance (300 ft)</vt:lpstr>
      <vt:lpstr>Standing Power Performance (300 ft)</vt:lpstr>
      <vt:lpstr>Standing Power Performance (900 ft)</vt:lpstr>
      <vt:lpstr>Standing Power Performance (900 ft)</vt:lpstr>
      <vt:lpstr>Standing Energy Performance</vt:lpstr>
      <vt:lpstr>Standing Energy Performance (175 ft)</vt:lpstr>
      <vt:lpstr>Standing Energy Performance (175 ft)</vt:lpstr>
      <vt:lpstr>Findings</vt:lpstr>
      <vt:lpstr>Standing Energy Performance (300 ft)</vt:lpstr>
      <vt:lpstr>Standing Energy Performance (300 ft)</vt:lpstr>
      <vt:lpstr>Standing Energy Performance (900 ft)</vt:lpstr>
      <vt:lpstr>Standing Energy Performance (900 ft)</vt:lpstr>
      <vt:lpstr>Rolling Power Performance</vt:lpstr>
      <vt:lpstr>Rolling Power Performance (175 ft)</vt:lpstr>
      <vt:lpstr>Rolling Power Performance (175 ft)</vt:lpstr>
      <vt:lpstr>Findings</vt:lpstr>
      <vt:lpstr>Rolling Power Performance (300 ft)</vt:lpstr>
      <vt:lpstr>Rolling Power Performance (300 ft)</vt:lpstr>
      <vt:lpstr>Rolling Power Performance (900 ft)</vt:lpstr>
      <vt:lpstr>Rolling Power Performance (900 ft)</vt:lpstr>
      <vt:lpstr>Rolling Energy Performance</vt:lpstr>
      <vt:lpstr>Rolling Energy Performance (175 ft)</vt:lpstr>
      <vt:lpstr>Rolling Energy Performance (175 ft)</vt:lpstr>
      <vt:lpstr>Findings</vt:lpstr>
      <vt:lpstr>Rolling Energy Performance (300 ft)</vt:lpstr>
      <vt:lpstr>Rolling Energy Performance (300 ft)</vt:lpstr>
      <vt:lpstr>Rolling Energy Performance (900 ft)</vt:lpstr>
      <vt:lpstr>Rolling Energy Performance (900 ft)</vt:lpstr>
      <vt:lpstr>Conclusions/Insights</vt:lpstr>
      <vt:lpstr>Questions To Ask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Battery analysis</dc:title>
  <dc:creator>Dahui Kang</dc:creator>
  <cp:lastModifiedBy>Nathan Lu</cp:lastModifiedBy>
  <cp:revision>21</cp:revision>
  <dcterms:created xsi:type="dcterms:W3CDTF">2024-03-26T14:38:18Z</dcterms:created>
  <dcterms:modified xsi:type="dcterms:W3CDTF">2024-07-10T17:16:11Z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0x010100F97B4E0BB56A4747ABA672F6B296B887</vt:lpwstr>
  </property>
</Properties>
</file>