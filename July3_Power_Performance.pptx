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5"/>
  </p:notesMasterIdLst>
  <p:handoutMasterIdLst>
    <p:handoutMasterId r:id="rId16"/>
  </p:handoutMasterIdLst>
  <p:sldIdLst>
    <p:sldId id="256" r:id="rId5"/>
    <p:sldId id="330" r:id="rId6"/>
    <p:sldId id="324" r:id="rId7"/>
    <p:sldId id="332" r:id="rId8"/>
    <p:sldId id="333" r:id="rId9"/>
    <p:sldId id="335" r:id="rId10"/>
    <p:sldId id="334" r:id="rId11"/>
    <p:sldId id="336" r:id="rId12"/>
    <p:sldId id="337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843506-70AB-4825-94E1-D767966D99A8}">
          <p14:sldIdLst>
            <p14:sldId id="256"/>
            <p14:sldId id="330"/>
            <p14:sldId id="324"/>
            <p14:sldId id="332"/>
            <p14:sldId id="333"/>
            <p14:sldId id="335"/>
            <p14:sldId id="334"/>
            <p14:sldId id="336"/>
            <p14:sldId id="337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2CFD7-5747-4B02-AADA-C11F71E454E4}" v="376" dt="2024-07-05T19:08:25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6327"/>
  </p:normalViewPr>
  <p:slideViewPr>
    <p:cSldViewPr snapToGrid="0">
      <p:cViewPr varScale="1">
        <p:scale>
          <a:sx n="44" d="100"/>
          <a:sy n="44" d="100"/>
        </p:scale>
        <p:origin x="913" y="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" y="198582"/>
            <a:ext cx="3082197" cy="198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3050818" y="198582"/>
            <a:ext cx="3047061" cy="1985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6097879" y="198582"/>
            <a:ext cx="3047061" cy="198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9144939" y="198582"/>
            <a:ext cx="3047061" cy="1985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0" y="0"/>
            <a:ext cx="12191999" cy="198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BE1A07C-8552-0542-9BF7-2A6100634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0F173A6-3ACA-4942-AF2C-D0B120EE6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7/5/2024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7/5/2024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7/5/2024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7/5/2024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2D4160-4A25-214B-B0DD-33C1D7760F8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FFB46B-498F-AE4A-B9A7-4C6AB5B81AA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A2065-ED1B-724B-9396-45C1760E61E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3DEAB-7BCF-4A44-8C12-F5B4318DA82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0BD48-AC82-AD43-8C23-93AE5272CA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26E371-D75A-604E-88BB-90AFCE90362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9AFB0B-41DD-F947-A857-F70C3043CB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6CD61E-7E92-D14D-9C2B-ACA64B9951C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0C72E-2BBA-454D-BD97-AC183A643FB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A61640-FDAF-4345-8014-B6E2CE4F600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74264D-D990-F44D-9800-EA8DF5CA515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6356CE-4984-C84D-82AE-A8CF95C81E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F50DA-7B18-354A-ADC8-AE0388894B36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0A8D4-6A5A-154F-B1A1-1EFA9143C0D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BD13B1-A03B-334C-8443-736D9DCC4D2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E77912-2640-D24A-B1C4-A778B4DEDB3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43BB98-0911-ED45-99DF-3136DA24B6D5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DE1CE2-C376-9C45-BAD5-76783368CF2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9E5936-8DDE-404C-8287-66CA0AC7109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089031-6A5B-9449-87D7-7C5CDDC88BC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F6C75A-9108-CA4F-8B66-B6CECA99FEA2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CF4384-BA6E-6245-8D88-99ED543B1D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6C63DE-AB2B-974A-A8EC-EA2603B292F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A2A04B-66A2-9349-97DE-C751FF6560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F584D0-0125-DD43-839D-88959E97F9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85CBA6-CECB-7248-880F-540A646F768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497680-B31E-0E4C-B43C-A3D9D08A4D9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B6DF40-54B9-3B43-AE5C-98DAA975F99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60022-B720-0147-9D04-01AA504D70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E8E639-BFC3-EE48-B3BA-F70F153789ED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670234-9DB2-424E-8823-6A9DA1AF548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DA2F90-2B7E-6F47-8B0A-F3C4FF1C9A5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27351F-0FF7-514A-8571-9BFEC244FE4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8888C3-9E25-4646-9D2D-E0F0EF3A8D49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11E38F-B04A-1742-90E3-F0CA0679C75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ED03F5-8D14-604E-AF5A-BBD1209FB81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7/5/2024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7" y="985586"/>
            <a:ext cx="6096144" cy="40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985586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7/5/2024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799131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02" y="5990481"/>
            <a:ext cx="3262499" cy="900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Take0ff Power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Nathan Lu</a:t>
            </a:r>
          </a:p>
          <a:p>
            <a:r>
              <a:rPr lang="en-US" sz="1600" dirty="0">
                <a:latin typeface="+mj-lt"/>
              </a:rPr>
              <a:t>Management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39" y="2642329"/>
            <a:ext cx="1349427" cy="377962"/>
          </a:xfrm>
        </p:spPr>
        <p:txBody>
          <a:bodyPr/>
          <a:lstStyle/>
          <a:p>
            <a:r>
              <a:rPr lang="en-US" sz="1600" dirty="0">
                <a:latin typeface="Barlow Condensed" panose="00000506000000000000" pitchFamily="2" charset="0"/>
              </a:rPr>
              <a:t>July 3, 2024</a:t>
            </a:r>
          </a:p>
        </p:txBody>
      </p:sp>
      <p:pic>
        <p:nvPicPr>
          <p:cNvPr id="6146" name="Picture 2" descr="Pipistrel Velis Electro - Wikipedia">
            <a:extLst>
              <a:ext uri="{FF2B5EF4-FFF2-40B4-BE49-F238E27FC236}">
                <a16:creationId xmlns:a16="http://schemas.microsoft.com/office/drawing/2014/main" id="{51C94234-0641-B766-E93A-FD30DF647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218" y="2790224"/>
            <a:ext cx="5153812" cy="34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Updates From Last Meeting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838" y="1413164"/>
            <a:ext cx="5574324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Included all previous flight data instead of flights from this spring.</a:t>
            </a:r>
          </a:p>
          <a:p>
            <a:r>
              <a:rPr lang="en-US" dirty="0">
                <a:latin typeface="+mj-lt"/>
              </a:rPr>
              <a:t>Successfully filtered out standing vs rolling stages.</a:t>
            </a:r>
          </a:p>
          <a:p>
            <a:pPr lvl="1"/>
            <a:r>
              <a:rPr lang="en-US" dirty="0">
                <a:latin typeface="+mj-lt"/>
              </a:rPr>
              <a:t>Completely reworked calculation algorithms.</a:t>
            </a:r>
          </a:p>
          <a:p>
            <a:pPr lvl="2"/>
            <a:r>
              <a:rPr lang="en-GB" dirty="0">
                <a:latin typeface="+mj-lt"/>
              </a:rPr>
              <a:t>Significantly improved accuracy and eliminated irregular altitude discrepancies, effectively removing the need for theoretical calculations that might be inaccurate due to other parameters.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</a:t>
            </a:fld>
            <a:endParaRPr lang="en-US" sz="1200" dirty="0">
              <a:latin typeface="+mj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5792704-ED1E-AD17-8732-A249C09B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1187404"/>
            <a:ext cx="5868518" cy="25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A0BB73D-7190-4331-04CD-AC8F51BE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3767510"/>
            <a:ext cx="5870023" cy="22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1769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010729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various power settings affect the climb rate?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 want a relatively high correlation value (0.6+)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 want the lowest change of increased time to reach altitude per drop in power (kW).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Any experimental difference between standing and rolling takeoff?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Theoretical states a 1% difference.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other factors affect the performance?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Weather.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Battery State of Health.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</a:t>
            </a:fld>
            <a:endParaRPr lang="en-US" sz="1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F369E-C18D-558D-DF2B-0BF29801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889" y="3682850"/>
            <a:ext cx="3889722" cy="189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0745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4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275" y="1222130"/>
            <a:ext cx="5983124" cy="247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2387" y="3687131"/>
            <a:ext cx="5984901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248233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-0.008753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-0.681354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-0.042606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-0.677562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-0.007070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-0.707369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-0.034903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-0.705166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-0.008187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-0.754837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-0.038436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-0.705557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-0.007195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-0.595755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-0.035300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-0.620713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766586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-0.008381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-0.577545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-0.040597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-0.569728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-0.004913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-0.511825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-0.024495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-0.485803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-0.006610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-0.723060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-0.031168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-0.723756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81772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-0.007389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-0.650544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-0.035668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-0.641037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823352"/>
              </p:ext>
            </p:extLst>
          </p:nvPr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12569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5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6" y="1233897"/>
            <a:ext cx="5927962" cy="245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7" y="3697160"/>
            <a:ext cx="5927721" cy="246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0753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-0.005215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-0.465362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-0.026065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-0.490332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-0.003425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-0.454303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-0.017685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-0.450199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-0.003960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-0.488985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-0.020798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-0.475051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-0.003655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-0.357397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-0.018404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-0.381791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868777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-0.004992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-0.391203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-0.023741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-0.375354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-0.001404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-0.163117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-0.007750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-0.174030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-0.002616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-0.402291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-0.013751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-0.418215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84202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-0.392704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-0.396884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1946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4793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6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6" y="1222130"/>
            <a:ext cx="5927962" cy="247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7" y="3685293"/>
            <a:ext cx="5927721" cy="248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54891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-0.015476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-0.898187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-0.041462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-0.919672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-0.017035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-0.816349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-0.042391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-0.825305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-0.015934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-0.879035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-0.042733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-0.879076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-0.015278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-0.867554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-0.043761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-0.908234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24041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-0.016214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-0.875706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-0.043741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-0.889651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-0.013513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-0.964767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-0.040538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-0.992152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-0.016969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-0.839226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-0.043930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-0.845315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932645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-0.015320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-0.865176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-0.887132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8624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7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7" y="1233897"/>
            <a:ext cx="5927960" cy="245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8" y="3697160"/>
            <a:ext cx="5927719" cy="246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361592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-0.005286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-0.754894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-0.019595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-0.749307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-0.006399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-0.619447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-0.591063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-0.005388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-0.661668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-0.020385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-0.659300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-0.006329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-0.772040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-0.023468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-0.761170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16340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-0.005572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-0.691328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-0.021395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-0.687763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-0.005120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-0.966242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-0.020160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-0.977075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-0.006796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-0.677349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-0.022972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-0.643708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378053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-0.005563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-0.688301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-0.687857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1946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4304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Conclusions/Insights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34072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How do various power settings affect the climb rate? </a:t>
            </a:r>
          </a:p>
          <a:p>
            <a:pPr lvl="1">
              <a:lnSpc>
                <a:spcPct val="80000"/>
              </a:lnSpc>
            </a:pPr>
            <a:r>
              <a:rPr lang="en-GB" dirty="0">
                <a:latin typeface="+mj-lt"/>
              </a:rPr>
              <a:t>Standing Climb vs. Rolling Climb: </a:t>
            </a:r>
          </a:p>
          <a:p>
            <a:pPr lvl="2">
              <a:lnSpc>
                <a:spcPct val="80000"/>
              </a:lnSpc>
            </a:pPr>
            <a:r>
              <a:rPr lang="en-GB" dirty="0">
                <a:latin typeface="+mj-lt"/>
              </a:rPr>
              <a:t>The climb rate is significantly affected by power setting in both scenarios, with rolling climbs showing a more pronounced impact (strong linear/exponential increase) compared to standing climbs (weaker linear increase).</a:t>
            </a:r>
          </a:p>
          <a:p>
            <a:pPr lvl="2">
              <a:lnSpc>
                <a:spcPct val="80000"/>
              </a:lnSpc>
            </a:pPr>
            <a:r>
              <a:rPr lang="en-GB" dirty="0">
                <a:latin typeface="+mj-lt"/>
              </a:rPr>
              <a:t>Linearly, rolling climbs are 0.003769 minutes faster per kW compared to standing climbs. </a:t>
            </a:r>
          </a:p>
          <a:p>
            <a:pPr lvl="1">
              <a:lnSpc>
                <a:spcPct val="80000"/>
              </a:lnSpc>
            </a:pPr>
            <a:r>
              <a:rPr lang="en-GB" dirty="0">
                <a:latin typeface="+mj-lt"/>
              </a:rPr>
              <a:t>Temperature Influence: </a:t>
            </a:r>
          </a:p>
          <a:p>
            <a:pPr lvl="2">
              <a:lnSpc>
                <a:spcPct val="80000"/>
              </a:lnSpc>
            </a:pPr>
            <a:r>
              <a:rPr lang="en-GB" dirty="0">
                <a:latin typeface="+mj-lt"/>
              </a:rPr>
              <a:t>Temperature has a moderate correlation on climb performance in standing </a:t>
            </a:r>
            <a:r>
              <a:rPr lang="en-GB" dirty="0" err="1">
                <a:latin typeface="+mj-lt"/>
              </a:rPr>
              <a:t>takeoffs</a:t>
            </a:r>
            <a:r>
              <a:rPr lang="en-GB" dirty="0">
                <a:latin typeface="+mj-lt"/>
              </a:rPr>
              <a:t>, with temperatures around 20-25°C yielding the best performance, and lower temperatures (5-10°C) resulting in slightly poorer performance. Rolling </a:t>
            </a:r>
            <a:r>
              <a:rPr lang="en-GB" dirty="0" err="1">
                <a:latin typeface="+mj-lt"/>
              </a:rPr>
              <a:t>takeoffs</a:t>
            </a:r>
            <a:r>
              <a:rPr lang="en-GB" dirty="0">
                <a:latin typeface="+mj-lt"/>
              </a:rPr>
              <a:t> had little to no impact from varying outside temperatures.</a:t>
            </a:r>
          </a:p>
          <a:p>
            <a:pPr lvl="1">
              <a:lnSpc>
                <a:spcPct val="80000"/>
              </a:lnSpc>
            </a:pPr>
            <a:r>
              <a:rPr lang="en-GB" dirty="0">
                <a:latin typeface="+mj-lt"/>
              </a:rPr>
              <a:t>State of Health Impact: </a:t>
            </a:r>
          </a:p>
          <a:p>
            <a:pPr lvl="2">
              <a:lnSpc>
                <a:spcPct val="80000"/>
              </a:lnSpc>
            </a:pPr>
            <a:r>
              <a:rPr lang="en-GB" dirty="0">
                <a:latin typeface="+mj-lt"/>
              </a:rPr>
              <a:t>Low impact from </a:t>
            </a:r>
            <a:r>
              <a:rPr lang="en-GB" dirty="0" err="1">
                <a:latin typeface="+mj-lt"/>
              </a:rPr>
              <a:t>SoH</a:t>
            </a:r>
            <a:r>
              <a:rPr lang="en-GB" dirty="0">
                <a:latin typeface="+mj-lt"/>
              </a:rPr>
              <a:t> differences in both standing and rolling </a:t>
            </a:r>
            <a:r>
              <a:rPr lang="en-GB" dirty="0" err="1">
                <a:latin typeface="+mj-lt"/>
              </a:rPr>
              <a:t>takeoffs</a:t>
            </a:r>
            <a:r>
              <a:rPr lang="en-GB" dirty="0">
                <a:latin typeface="+mj-lt"/>
              </a:rPr>
              <a:t> in regard to performance and energy consumption.</a:t>
            </a:r>
          </a:p>
          <a:p>
            <a:pPr lvl="1">
              <a:lnSpc>
                <a:spcPct val="80000"/>
              </a:lnSpc>
            </a:pPr>
            <a:r>
              <a:rPr lang="en-GB" dirty="0">
                <a:latin typeface="+mj-lt"/>
              </a:rPr>
              <a:t>Energy Consumption: </a:t>
            </a:r>
          </a:p>
          <a:p>
            <a:pPr lvl="2">
              <a:lnSpc>
                <a:spcPct val="80000"/>
              </a:lnSpc>
            </a:pPr>
            <a:r>
              <a:rPr lang="en-GB" dirty="0">
                <a:latin typeface="+mj-lt"/>
              </a:rPr>
              <a:t>The relationship between energy consumption and power setting varies with low correlation in standing </a:t>
            </a:r>
            <a:r>
              <a:rPr lang="en-GB" dirty="0" err="1">
                <a:latin typeface="+mj-lt"/>
              </a:rPr>
              <a:t>takeoff</a:t>
            </a:r>
            <a:r>
              <a:rPr lang="en-GB" dirty="0">
                <a:latin typeface="+mj-lt"/>
              </a:rPr>
              <a:t> data. In rolling </a:t>
            </a:r>
            <a:r>
              <a:rPr lang="en-GB" dirty="0" err="1">
                <a:latin typeface="+mj-lt"/>
              </a:rPr>
              <a:t>takeoffs</a:t>
            </a:r>
            <a:r>
              <a:rPr lang="en-GB" dirty="0">
                <a:latin typeface="+mj-lt"/>
              </a:rPr>
              <a:t>, the power setting value had a moderate negative linear relationship with higher power settings consuming less total energy with a lump of values from 45-52 kW also consuming low energy.</a:t>
            </a: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8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3192101" y="81717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climb rate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404807287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483816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Other parameters to consider?</a:t>
            </a:r>
          </a:p>
          <a:p>
            <a:r>
              <a:rPr lang="en-US" dirty="0">
                <a:latin typeface="+mj-lt"/>
              </a:rPr>
              <a:t>How can we calculate efficiency?</a:t>
            </a:r>
          </a:p>
          <a:p>
            <a:pPr lvl="1"/>
            <a:r>
              <a:rPr lang="en-US" dirty="0">
                <a:latin typeface="+mj-lt"/>
              </a:rPr>
              <a:t>How much should each parameter be weighted?</a:t>
            </a:r>
          </a:p>
          <a:p>
            <a:pPr lvl="2"/>
            <a:r>
              <a:rPr lang="en-US" dirty="0">
                <a:latin typeface="+mj-lt"/>
              </a:rPr>
              <a:t>Time below a certain altitude</a:t>
            </a:r>
          </a:p>
          <a:p>
            <a:pPr lvl="2"/>
            <a:r>
              <a:rPr lang="en-US" dirty="0">
                <a:latin typeface="+mj-lt"/>
              </a:rPr>
              <a:t>Battery Strain</a:t>
            </a:r>
          </a:p>
          <a:p>
            <a:pPr lvl="2"/>
            <a:r>
              <a:rPr lang="en-US" dirty="0">
                <a:latin typeface="+mj-lt"/>
              </a:rPr>
              <a:t>Battery Discharge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9</a:t>
            </a:fld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077220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Takeoff Power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Custom 7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8000B3"/>
      </a:accent1>
      <a:accent2>
        <a:srgbClr val="0C0C0C"/>
      </a:accent2>
      <a:accent3>
        <a:srgbClr val="BD33DA"/>
      </a:accent3>
      <a:accent4>
        <a:srgbClr val="CFB3E6"/>
      </a:accent4>
      <a:accent5>
        <a:srgbClr val="57058A"/>
      </a:accent5>
      <a:accent6>
        <a:srgbClr val="F1F1F1"/>
      </a:accent6>
      <a:hlink>
        <a:srgbClr val="57058A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nd_tests_2024" id="{E1909CB9-6A2E-6D4A-83AC-E527E8436ADC}" vid="{9B3D140F-7915-2C4F-9E14-26532AC0F2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d09aaa-92c7-42c2-846a-76ca9620620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B4E0BB56A4747ABA672F6B296B887" ma:contentTypeVersion="9" ma:contentTypeDescription="Create a new document." ma:contentTypeScope="" ma:versionID="c7111536c6c6e26f06593a2d9854311f">
  <xsd:schema xmlns:xsd="http://www.w3.org/2001/XMLSchema" xmlns:xs="http://www.w3.org/2001/XMLSchema" xmlns:p="http://schemas.microsoft.com/office/2006/metadata/properties" xmlns:ns3="4fd09aaa-92c7-42c2-846a-76ca96206204" xmlns:ns4="e93466c3-4607-40ed-b2ce-fff10fbc80c7" targetNamespace="http://schemas.microsoft.com/office/2006/metadata/properties" ma:root="true" ma:fieldsID="71983ef5e152f66a8984ecfb1ae11acd" ns3:_="" ns4:_="">
    <xsd:import namespace="4fd09aaa-92c7-42c2-846a-76ca96206204"/>
    <xsd:import namespace="e93466c3-4607-40ed-b2ce-fff10fbc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09aaa-92c7-42c2-846a-76ca962062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466c3-4607-40ed-b2ce-fff10fbc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DBF3EE-FBD2-47C2-B431-8CCF18B408AB}">
  <ds:schemaRefs>
    <ds:schemaRef ds:uri="http://schemas.microsoft.com/office/2006/metadata/properties"/>
    <ds:schemaRef ds:uri="http://www.w3.org/XML/1998/namespace"/>
    <ds:schemaRef ds:uri="4fd09aaa-92c7-42c2-846a-76ca96206204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93466c3-4607-40ed-b2ce-fff10fbc80c7"/>
  </ds:schemaRefs>
</ds:datastoreItem>
</file>

<file path=customXml/itemProps2.xml><?xml version="1.0" encoding="utf-8"?>
<ds:datastoreItem xmlns:ds="http://schemas.openxmlformats.org/officeDocument/2006/customXml" ds:itemID="{70A07777-B3E3-4762-8CB8-40FA61A268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75DA63-C3F4-4ECC-9D60-55DB02C19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09aaa-92c7-42c2-846a-76ca96206204"/>
    <ds:schemaRef ds:uri="e93466c3-4607-40ed-b2ce-fff10fbc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3104</TotalTime>
  <Words>920</Words>
  <Application>Microsoft Office PowerPoint</Application>
  <PresentationFormat>Widescreen</PresentationFormat>
  <Paragraphs>269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Barlow Condensed</vt:lpstr>
      <vt:lpstr>Barlow Condensed (Headings)</vt:lpstr>
      <vt:lpstr>Calibri</vt:lpstr>
      <vt:lpstr>Georgia</vt:lpstr>
      <vt:lpstr>Verdana</vt:lpstr>
      <vt:lpstr>Wingdings</vt:lpstr>
      <vt:lpstr>UofWaterloo_WhiteBkgrd</vt:lpstr>
      <vt:lpstr>Take0ff Power Performance</vt:lpstr>
      <vt:lpstr>Updates From Last Meeting</vt:lpstr>
      <vt:lpstr>Questions Addressed</vt:lpstr>
      <vt:lpstr>Standing Power Performance</vt:lpstr>
      <vt:lpstr>Standing Energy Performance</vt:lpstr>
      <vt:lpstr>Rolling Power Performance</vt:lpstr>
      <vt:lpstr>Rolling Energy Performance</vt:lpstr>
      <vt:lpstr>Conclusions/Insights</vt:lpstr>
      <vt:lpstr>Questions To 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analysis</dc:title>
  <dc:creator>Dahui Kang</dc:creator>
  <cp:lastModifiedBy>Nathan Lu</cp:lastModifiedBy>
  <cp:revision>21</cp:revision>
  <dcterms:created xsi:type="dcterms:W3CDTF">2024-03-26T14:38:18Z</dcterms:created>
  <dcterms:modified xsi:type="dcterms:W3CDTF">2024-07-05T19:27:59Z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0x010100F97B4E0BB56A4747ABA672F6B296B887</vt:lpwstr>
  </property>
</Properties>
</file>