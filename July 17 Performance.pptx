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23"/>
  </p:notesMasterIdLst>
  <p:handoutMasterIdLst>
    <p:handoutMasterId r:id="rId24"/>
  </p:handoutMasterIdLst>
  <p:sldIdLst>
    <p:sldId id="256" r:id="rId5"/>
    <p:sldId id="324" r:id="rId6"/>
    <p:sldId id="368" r:id="rId7"/>
    <p:sldId id="365" r:id="rId8"/>
    <p:sldId id="374" r:id="rId9"/>
    <p:sldId id="369" r:id="rId10"/>
    <p:sldId id="367" r:id="rId11"/>
    <p:sldId id="375" r:id="rId12"/>
    <p:sldId id="370" r:id="rId13"/>
    <p:sldId id="371" r:id="rId14"/>
    <p:sldId id="379" r:id="rId15"/>
    <p:sldId id="376" r:id="rId16"/>
    <p:sldId id="377" r:id="rId17"/>
    <p:sldId id="380" r:id="rId18"/>
    <p:sldId id="372" r:id="rId19"/>
    <p:sldId id="373" r:id="rId20"/>
    <p:sldId id="336" r:id="rId21"/>
    <p:sldId id="29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843506-70AB-4825-94E1-D767966D99A8}">
          <p14:sldIdLst>
            <p14:sldId id="256"/>
            <p14:sldId id="324"/>
            <p14:sldId id="368"/>
            <p14:sldId id="365"/>
            <p14:sldId id="374"/>
            <p14:sldId id="369"/>
            <p14:sldId id="367"/>
            <p14:sldId id="375"/>
            <p14:sldId id="370"/>
            <p14:sldId id="371"/>
            <p14:sldId id="379"/>
            <p14:sldId id="376"/>
            <p14:sldId id="377"/>
            <p14:sldId id="380"/>
            <p14:sldId id="372"/>
            <p14:sldId id="373"/>
            <p14:sldId id="336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0" autoAdjust="0"/>
    <p:restoredTop sz="96327"/>
  </p:normalViewPr>
  <p:slideViewPr>
    <p:cSldViewPr snapToGrid="0">
      <p:cViewPr varScale="1">
        <p:scale>
          <a:sx n="80" d="100"/>
          <a:sy n="80" d="100"/>
        </p:scale>
        <p:origin x="589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1" y="198582"/>
            <a:ext cx="3082197" cy="1985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3050818" y="198582"/>
            <a:ext cx="3047061" cy="1985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6097879" y="198582"/>
            <a:ext cx="3047061" cy="198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9144939" y="198582"/>
            <a:ext cx="3047061" cy="1985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0" y="0"/>
            <a:ext cx="12191999" cy="198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BE1A07C-8552-0542-9BF7-2A61006340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0F173A6-3ACA-4942-AF2C-D0B120EE61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7/16/2024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7/16/2024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7/16/2024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7/16/2024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2D4160-4A25-214B-B0DD-33C1D7760F8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FFB46B-498F-AE4A-B9A7-4C6AB5B81AA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7A2065-ED1B-724B-9396-45C1760E61E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D3DEAB-7BCF-4A44-8C12-F5B4318DA82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30BD48-AC82-AD43-8C23-93AE5272CA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26E371-D75A-604E-88BB-90AFCE90362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9AFB0B-41DD-F947-A857-F70C3043CB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6CD61E-7E92-D14D-9C2B-ACA64B9951C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0C72E-2BBA-454D-BD97-AC183A643FB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A61640-FDAF-4345-8014-B6E2CE4F600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74264D-D990-F44D-9800-EA8DF5CA515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6356CE-4984-C84D-82AE-A8CF95C81E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DF50DA-7B18-354A-ADC8-AE0388894B36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30A8D4-6A5A-154F-B1A1-1EFA9143C0D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BD13B1-A03B-334C-8443-736D9DCC4D2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E77912-2640-D24A-B1C4-A778B4DEDB3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43BB98-0911-ED45-99DF-3136DA24B6D5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DE1CE2-C376-9C45-BAD5-76783368CF2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9E5936-8DDE-404C-8287-66CA0AC7109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089031-6A5B-9449-87D7-7C5CDDC88BC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F6C75A-9108-CA4F-8B66-B6CECA99FEA2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CF4384-BA6E-6245-8D88-99ED543B1D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6C63DE-AB2B-974A-A8EC-EA2603B292F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A2A04B-66A2-9349-97DE-C751FF6560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F584D0-0125-DD43-839D-88959E97F9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85CBA6-CECB-7248-880F-540A646F768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497680-B31E-0E4C-B43C-A3D9D08A4D9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B6DF40-54B9-3B43-AE5C-98DAA975F99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60022-B720-0147-9D04-01AA504D70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E8E639-BFC3-EE48-B3BA-F70F153789ED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670234-9DB2-424E-8823-6A9DA1AF548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DA2F90-2B7E-6F47-8B0A-F3C4FF1C9A5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27351F-0FF7-514A-8571-9BFEC244FE4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8888C3-9E25-4646-9D2D-E0F0EF3A8D49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11E38F-B04A-1742-90E3-F0CA0679C75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ED03F5-8D14-604E-AF5A-BBD1209FB81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7/16/2024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7" y="985586"/>
            <a:ext cx="6096144" cy="40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985586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7/16/2024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799131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902" y="5990481"/>
            <a:ext cx="3262499" cy="900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Take0ff Power And Energy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latin typeface="+mj-lt"/>
              </a:rPr>
              <a:t>Nathan Lu</a:t>
            </a:r>
          </a:p>
          <a:p>
            <a:r>
              <a:rPr lang="en-US" sz="1600" dirty="0">
                <a:latin typeface="+mj-lt"/>
              </a:rPr>
              <a:t>Management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39" y="2642329"/>
            <a:ext cx="1349427" cy="377962"/>
          </a:xfrm>
        </p:spPr>
        <p:txBody>
          <a:bodyPr/>
          <a:lstStyle/>
          <a:p>
            <a:r>
              <a:rPr lang="en-US" sz="1600" dirty="0">
                <a:latin typeface="Barlow Condensed" panose="00000506000000000000" pitchFamily="2" charset="0"/>
              </a:rPr>
              <a:t>July 17, 2024</a:t>
            </a:r>
          </a:p>
        </p:txBody>
      </p:sp>
      <p:pic>
        <p:nvPicPr>
          <p:cNvPr id="6146" name="Picture 2" descr="Pipistrel Velis Electro - Wikipedia">
            <a:extLst>
              <a:ext uri="{FF2B5EF4-FFF2-40B4-BE49-F238E27FC236}">
                <a16:creationId xmlns:a16="http://schemas.microsoft.com/office/drawing/2014/main" id="{51C94234-0641-B766-E93A-FD30DF647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218" y="2790224"/>
            <a:ext cx="5153812" cy="34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010729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How do various power settings affect the climb rate?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 want the lowest change of increased time to reach altitude per drop in power (kW).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Any experimental difference between standing and rolling takeoff?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Theoretical states a 1% difference.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How do other factors affect the performance?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Weather.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Battery State of Health.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How does the initial power setting affect the total takeoff power?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</a:t>
            </a:fld>
            <a:endParaRPr lang="en-US" sz="1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F369E-C18D-558D-DF2B-0BF298013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889" y="3682850"/>
            <a:ext cx="3889722" cy="189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074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7A0F-64C9-6D3E-895C-679C32F4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Standing Power Performance (175 ft)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45F0-EF69-EB74-DBEF-09E0B077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037DB-D928-AF1F-04BC-9BD59291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6" y="1409700"/>
            <a:ext cx="5899343" cy="2438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C2840D-CBC9-D3C9-DC43-AC29193DE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10476"/>
            <a:ext cx="5872529" cy="2437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045CA-BC17-B200-ECE3-FF7F03D0A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655" y="3689750"/>
            <a:ext cx="5899343" cy="24383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1EF78-6087-C2B4-38B0-6DEE9AEBC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8" y="3767003"/>
            <a:ext cx="5899343" cy="228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0090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+mj-lt"/>
              </a:rPr>
              <a:t>Moderately weak correlation for average energy consumption vs average power</a:t>
            </a:r>
          </a:p>
          <a:p>
            <a:pPr lvl="1"/>
            <a:r>
              <a:rPr lang="en-US" dirty="0">
                <a:latin typeface="+mj-lt"/>
              </a:rPr>
              <a:t>This seems to be the case with all energy data</a:t>
            </a:r>
          </a:p>
          <a:p>
            <a:pPr lvl="1"/>
            <a:r>
              <a:rPr lang="en-US" dirty="0">
                <a:latin typeface="+mj-lt"/>
              </a:rPr>
              <a:t>Points are more spread out and show a slight negative correlation</a:t>
            </a:r>
          </a:p>
          <a:p>
            <a:r>
              <a:rPr lang="en-US" dirty="0">
                <a:latin typeface="+mj-lt"/>
              </a:rPr>
              <a:t>Low-Moderate correlation based on OAT</a:t>
            </a:r>
          </a:p>
          <a:p>
            <a:pPr lvl="1"/>
            <a:r>
              <a:rPr lang="en-US" dirty="0">
                <a:latin typeface="+mj-lt"/>
              </a:rPr>
              <a:t>Temperatures from 5-10°C had the worst performing flights while data from 10-25°C had similar performance</a:t>
            </a:r>
          </a:p>
          <a:p>
            <a:pPr lvl="1"/>
            <a:r>
              <a:rPr lang="en-US" dirty="0">
                <a:latin typeface="+mj-lt"/>
              </a:rPr>
              <a:t>Variance in Temperature has a negligible effect</a:t>
            </a:r>
          </a:p>
          <a:p>
            <a:r>
              <a:rPr lang="en-US" dirty="0">
                <a:latin typeface="+mj-lt"/>
              </a:rPr>
              <a:t>Battery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had a low correlation on performance data</a:t>
            </a:r>
          </a:p>
          <a:p>
            <a:pPr lvl="1"/>
            <a:r>
              <a:rPr lang="en-US" dirty="0">
                <a:latin typeface="+mj-lt"/>
              </a:rPr>
              <a:t>Lower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values were more efficient in higher power settings and had more variance compared to higher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Values</a:t>
            </a:r>
          </a:p>
          <a:p>
            <a:r>
              <a:rPr lang="en-US" dirty="0">
                <a:latin typeface="+mj-lt"/>
              </a:rPr>
              <a:t>Weak moderate correlation between battery temperature and energy</a:t>
            </a:r>
          </a:p>
          <a:p>
            <a:pPr lvl="1"/>
            <a:r>
              <a:rPr lang="en-US" dirty="0">
                <a:latin typeface="+mj-lt"/>
              </a:rPr>
              <a:t>Temperatures from 23-28°C had the greatest change of energy consumption (worst performer) but considered negligible </a:t>
            </a:r>
          </a:p>
          <a:p>
            <a:pPr lvl="1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4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44445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slope yielded a 0.0036 decrease in kWh per increase in kW</a:t>
            </a:r>
          </a:p>
          <a:p>
            <a:r>
              <a:rPr lang="en-US" dirty="0">
                <a:latin typeface="+mj-lt"/>
              </a:rPr>
              <a:t>Comparison of a 45 kW average and a 65 kW power setting to reach 175 ft:</a:t>
            </a:r>
          </a:p>
          <a:p>
            <a:pPr lvl="1"/>
            <a:r>
              <a:rPr lang="en-US" dirty="0">
                <a:latin typeface="+mj-lt"/>
              </a:rPr>
              <a:t>0.072 kWh difference</a:t>
            </a:r>
          </a:p>
          <a:p>
            <a:pPr lvl="1"/>
            <a:r>
              <a:rPr lang="en-US" dirty="0">
                <a:latin typeface="+mj-lt"/>
              </a:rPr>
              <a:t>0.3%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100%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0.375%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80%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0.075% decrease in SoC per 5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kW increase</a:t>
            </a:r>
          </a:p>
          <a:p>
            <a:pPr lvl="1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5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0-175 ft)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34FE6-79E7-4677-B393-B0085EE55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2637" y="2910490"/>
            <a:ext cx="7599147" cy="29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902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7A0F-64C9-6D3E-895C-679C32F4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Rolling Power Performance (175 ft)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45F0-EF69-EB74-DBEF-09E0B077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037DB-D928-AF1F-04BC-9BD592917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656" y="1409700"/>
            <a:ext cx="5899343" cy="2438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C2840D-CBC9-D3C9-DC43-AC29193DE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1410476"/>
            <a:ext cx="5872529" cy="24375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045CA-BC17-B200-ECE3-FF7F03D0A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656" y="3689750"/>
            <a:ext cx="5899340" cy="24383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1EF78-6087-C2B4-38B0-6DEE9AEBC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8" y="3767003"/>
            <a:ext cx="5899342" cy="228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7469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Moderately strong correlation between energy consumption and rolling takeoff power averages</a:t>
            </a:r>
          </a:p>
          <a:p>
            <a:r>
              <a:rPr lang="en-US" dirty="0">
                <a:latin typeface="+mj-lt"/>
              </a:rPr>
              <a:t>OAT Data has low variance when classified with different outside temperatures</a:t>
            </a:r>
          </a:p>
          <a:p>
            <a:pPr lvl="1"/>
            <a:r>
              <a:rPr lang="en-US" dirty="0">
                <a:latin typeface="+mj-lt"/>
              </a:rPr>
              <a:t>Deemed negligible as a significant factor</a:t>
            </a:r>
          </a:p>
          <a:p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data had a moderately strong correlation to energy consumption</a:t>
            </a:r>
          </a:p>
          <a:p>
            <a:pPr lvl="1"/>
            <a:r>
              <a:rPr lang="en-US" dirty="0">
                <a:latin typeface="+mj-lt"/>
              </a:rPr>
              <a:t>Lower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values typically yielded lower consumption rates compared to higher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of the same power setting</a:t>
            </a:r>
          </a:p>
          <a:p>
            <a:r>
              <a:rPr lang="en-US" dirty="0">
                <a:latin typeface="+mj-lt"/>
              </a:rPr>
              <a:t>Battery temperatures had little to no influence on energy consumption</a:t>
            </a: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7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34450516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slope yielded a 0.0056 decrease in kWh per increase in kW</a:t>
            </a:r>
          </a:p>
          <a:p>
            <a:r>
              <a:rPr lang="en-US" dirty="0">
                <a:latin typeface="+mj-lt"/>
              </a:rPr>
              <a:t>Comparison of a 45 kW average and a 65 kW power setting to reach 175 ft:</a:t>
            </a:r>
          </a:p>
          <a:p>
            <a:pPr lvl="1"/>
            <a:r>
              <a:rPr lang="en-US" dirty="0">
                <a:latin typeface="+mj-lt"/>
              </a:rPr>
              <a:t>0.112 kWh difference</a:t>
            </a:r>
          </a:p>
          <a:p>
            <a:pPr lvl="1"/>
            <a:r>
              <a:rPr lang="en-US" dirty="0">
                <a:latin typeface="+mj-lt"/>
              </a:rPr>
              <a:t>0.47%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100%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0.58%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80%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0.12% decrease in SoC per 5 kW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 increase</a:t>
            </a:r>
          </a:p>
          <a:p>
            <a:pPr lvl="1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8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0-175 ft)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34FE6-79E7-4677-B393-B0085EE55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5265" y="2910490"/>
            <a:ext cx="7593890" cy="29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5577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7A0F-64C9-6D3E-895C-679C32F4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Standing Power Performance (900 ft)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45F0-EF69-EB74-DBEF-09E0B077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037DB-D928-AF1F-04BC-9BD592917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720" y="1409700"/>
            <a:ext cx="5843215" cy="2438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C2840D-CBC9-D3C9-DC43-AC29193DE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325" y="3668715"/>
            <a:ext cx="5760312" cy="24375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045CA-BC17-B200-ECE3-FF7F03D0A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719" y="3689750"/>
            <a:ext cx="5843215" cy="24383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1EF78-6087-C2B4-38B0-6DEE9AEBC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5991" y="1405945"/>
            <a:ext cx="5449590" cy="228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038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Average power settings is much more centralized when analyzed to 900 ft</a:t>
            </a:r>
          </a:p>
          <a:p>
            <a:r>
              <a:rPr lang="en-US" dirty="0">
                <a:latin typeface="+mj-lt"/>
              </a:rPr>
              <a:t>OAT had a moderate correlation between energy consumptions with lower temperatures yielding less consumptions. This trend also follows the battery temperature as expected.</a:t>
            </a:r>
          </a:p>
          <a:p>
            <a:r>
              <a:rPr lang="en-US" dirty="0">
                <a:latin typeface="+mj-lt"/>
              </a:rPr>
              <a:t>Surprisingly, flights with lower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(70-85) had higher energy consumption with around a 0.1 kWh difference. This behavior is the opposite compared to the initial flight stage (175 ft)</a:t>
            </a:r>
          </a:p>
          <a:p>
            <a:r>
              <a:rPr lang="en-US" dirty="0">
                <a:latin typeface="+mj-lt"/>
              </a:rPr>
              <a:t>In standing takeoffs, higher initial power settings play a much more influential role in determining the total energy consumption from 0-900 ft</a:t>
            </a:r>
          </a:p>
          <a:p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10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0-900 ft)</a:t>
            </a:r>
          </a:p>
        </p:txBody>
      </p:sp>
    </p:spTree>
    <p:extLst>
      <p:ext uri="{BB962C8B-B14F-4D97-AF65-F5344CB8AC3E}">
        <p14:creationId xmlns:p14="http://schemas.microsoft.com/office/powerpoint/2010/main" val="42324184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slope yielded a 0.008956 decrease in kWh per increase in kW</a:t>
            </a:r>
          </a:p>
          <a:p>
            <a:r>
              <a:rPr lang="en-US" dirty="0">
                <a:latin typeface="+mj-lt"/>
              </a:rPr>
              <a:t>Comparison of a 45 kW average and a 65 kW power setting to reach 900 ft:</a:t>
            </a:r>
          </a:p>
          <a:p>
            <a:pPr lvl="1"/>
            <a:r>
              <a:rPr lang="en-US" dirty="0">
                <a:latin typeface="+mj-lt"/>
              </a:rPr>
              <a:t>0.18 kWh difference</a:t>
            </a:r>
          </a:p>
          <a:p>
            <a:pPr lvl="1"/>
            <a:r>
              <a:rPr lang="en-US" dirty="0">
                <a:latin typeface="+mj-lt"/>
              </a:rPr>
              <a:t>0.75%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100%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0.94%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80%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0.2% decrease in SoC per 5 kW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 increase</a:t>
            </a:r>
          </a:p>
          <a:p>
            <a:pPr lvl="1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11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0-900 ft)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34FE6-79E7-4677-B393-B0085EE55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494" y="2910490"/>
            <a:ext cx="7531431" cy="29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06157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7A0F-64C9-6D3E-895C-679C32F4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Rolling Power Performance (900 ft)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45F0-EF69-EB74-DBEF-09E0B077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037DB-D928-AF1F-04BC-9BD592917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720" y="1409700"/>
            <a:ext cx="5843215" cy="2438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C2840D-CBC9-D3C9-DC43-AC29193DE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325" y="3643315"/>
            <a:ext cx="5760312" cy="2437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045CA-BC17-B200-ECE3-FF7F03D0A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719" y="3689750"/>
            <a:ext cx="5843215" cy="2438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1EF78-6087-C2B4-38B0-6DEE9AEBC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5991" y="1405945"/>
            <a:ext cx="5449590" cy="228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8808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Dataset is centralized compared to standing takeoffs</a:t>
            </a:r>
          </a:p>
          <a:p>
            <a:r>
              <a:rPr lang="en-US" dirty="0">
                <a:latin typeface="+mj-lt"/>
              </a:rPr>
              <a:t>OAT plays a much more significant impact on energy consumption with colder average temperatures performing more efficient compared to higher temperatures. This can be also observed with the battery temperature.</a:t>
            </a:r>
          </a:p>
          <a:p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also has the same trend but is tighter compared to OAT</a:t>
            </a:r>
          </a:p>
          <a:p>
            <a:r>
              <a:rPr lang="en-US" dirty="0">
                <a:latin typeface="+mj-lt"/>
              </a:rPr>
              <a:t>There are less data points with higher initial power settings due to high initial speed in rolling takeoffs</a:t>
            </a:r>
          </a:p>
          <a:p>
            <a:pPr lvl="1"/>
            <a:r>
              <a:rPr lang="en-US" dirty="0">
                <a:latin typeface="+mj-lt"/>
              </a:rPr>
              <a:t>However, flights with higher initial power settings were responsible for consuming significantly less energy compared to a lower initial power setting (many points under 0.9 kWh, 3.75%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100%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)</a:t>
            </a: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13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0-900 ft)</a:t>
            </a:r>
          </a:p>
        </p:txBody>
      </p:sp>
    </p:spTree>
    <p:extLst>
      <p:ext uri="{BB962C8B-B14F-4D97-AF65-F5344CB8AC3E}">
        <p14:creationId xmlns:p14="http://schemas.microsoft.com/office/powerpoint/2010/main" val="37483506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 slope yielded a 0.008970 decrease in kWh per increase in kW</a:t>
            </a:r>
          </a:p>
          <a:p>
            <a:r>
              <a:rPr lang="en-US" dirty="0">
                <a:latin typeface="+mj-lt"/>
              </a:rPr>
              <a:t>Comparison of a 45 kW average and a 65 kW power setting to reach 900 ft:</a:t>
            </a:r>
          </a:p>
          <a:p>
            <a:pPr lvl="1"/>
            <a:r>
              <a:rPr lang="en-US" dirty="0">
                <a:latin typeface="+mj-lt"/>
              </a:rPr>
              <a:t>0.18 kWh difference</a:t>
            </a:r>
          </a:p>
          <a:p>
            <a:pPr lvl="1"/>
            <a:r>
              <a:rPr lang="en-US" dirty="0">
                <a:latin typeface="+mj-lt"/>
              </a:rPr>
              <a:t>0.75%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100%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0.94% </a:t>
            </a:r>
            <a:r>
              <a:rPr lang="en-US" dirty="0" err="1">
                <a:latin typeface="+mj-lt"/>
              </a:rPr>
              <a:t>dSoC</a:t>
            </a:r>
            <a:r>
              <a:rPr lang="en-US" dirty="0">
                <a:latin typeface="+mj-lt"/>
              </a:rPr>
              <a:t> at 80% </a:t>
            </a:r>
            <a:r>
              <a:rPr lang="en-US" dirty="0" err="1">
                <a:latin typeface="+mj-lt"/>
              </a:rPr>
              <a:t>SoH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0.2% decrease in SoC per 5 kW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  increase</a:t>
            </a:r>
          </a:p>
          <a:p>
            <a:pPr lvl="1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14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0-900 ft)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34FE6-79E7-4677-B393-B0085EE55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494" y="2910490"/>
            <a:ext cx="7531431" cy="29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88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7A0F-64C9-6D3E-895C-679C32F4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Derated Power Performance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45F0-EF69-EB74-DBEF-09E0B077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037DB-D928-AF1F-04BC-9BD592917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254" y="1438053"/>
            <a:ext cx="5762146" cy="2381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C2840D-CBC9-D3C9-DC43-AC29193DE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0085" y="3727850"/>
            <a:ext cx="5420793" cy="22938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045CA-BC17-B200-ECE3-FF7F03D0A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253" y="3781603"/>
            <a:ext cx="5762146" cy="2381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11EF78-6087-C2B4-38B0-6DEE9AEBC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2275" y="1405945"/>
            <a:ext cx="5397022" cy="22838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093724-A1FA-EF3D-35C7-19B7262CFE18}"/>
              </a:ext>
            </a:extLst>
          </p:cNvPr>
          <p:cNvSpPr txBox="1"/>
          <p:nvPr/>
        </p:nvSpPr>
        <p:spPr>
          <a:xfrm>
            <a:off x="4374177" y="817601"/>
            <a:ext cx="7455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[Flights with intentional lower power settings (Vancouver &amp; Derated UW Flights)]</a:t>
            </a:r>
          </a:p>
        </p:txBody>
      </p:sp>
    </p:spTree>
    <p:extLst>
      <p:ext uri="{BB962C8B-B14F-4D97-AF65-F5344CB8AC3E}">
        <p14:creationId xmlns:p14="http://schemas.microsoft.com/office/powerpoint/2010/main" val="301677023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Data points are too scattered, need more flights for any conclusive results</a:t>
            </a:r>
          </a:p>
          <a:p>
            <a:r>
              <a:rPr lang="en-US" dirty="0">
                <a:latin typeface="+mj-lt"/>
              </a:rPr>
              <a:t>Higher temperatures compared to Waterloo (Useful in analyzing high temperature influence)</a:t>
            </a:r>
          </a:p>
          <a:p>
            <a:r>
              <a:rPr lang="en-US" dirty="0">
                <a:latin typeface="+mj-lt"/>
              </a:rPr>
              <a:t>Despite the variances in rolling takeoffs, energy consumption and average power usage centralizes at 900 ft.</a:t>
            </a:r>
          </a:p>
          <a:p>
            <a:pPr lvl="1"/>
            <a:r>
              <a:rPr lang="en-US" dirty="0">
                <a:latin typeface="+mj-lt"/>
              </a:rPr>
              <a:t>Initial power setting is insignificant </a:t>
            </a:r>
          </a:p>
          <a:p>
            <a:r>
              <a:rPr lang="en-US" dirty="0">
                <a:latin typeface="+mj-lt"/>
              </a:rPr>
              <a:t>Results are as expected when compared to flights with similar power settings</a:t>
            </a:r>
          </a:p>
          <a:p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16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263411662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Conclusions/Insights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340723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Higher average power settings result in less total energy consumption, leading to more efficient takeoffs.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Initial power for standing flights have a greater influence on average power for the entire takeoff.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Priority in power optimization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45-50 kW had similar efficiency compared to 50-55 kW and 55-60 kW.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Expect to see less change in rolling takeoffs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45-50 kW had similar efficiency compared to 50-55 kW and 55-60 kW as well.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Higher temperatures improved initial takeoff performance but reduced efficiency in the long run</a:t>
            </a:r>
          </a:p>
          <a:p>
            <a:pPr lvl="1">
              <a:lnSpc>
                <a:spcPct val="70000"/>
              </a:lnSpc>
            </a:pPr>
            <a:r>
              <a:rPr lang="en-GB" dirty="0">
                <a:latin typeface="+mj-lt"/>
              </a:rPr>
              <a:t>Higher temperatures can improve efficiency at lower altitudes due to better battery performance and reduced air density.</a:t>
            </a:r>
          </a:p>
          <a:p>
            <a:pPr lvl="1">
              <a:lnSpc>
                <a:spcPct val="70000"/>
              </a:lnSpc>
            </a:pPr>
            <a:r>
              <a:rPr lang="en-GB" dirty="0">
                <a:latin typeface="+mj-lt"/>
              </a:rPr>
              <a:t>When the power setting is decreased throughout the climb, would the continued lower air density render the climb less efficient?</a:t>
            </a:r>
            <a:endParaRPr lang="en-US" dirty="0">
              <a:latin typeface="+mj-lt"/>
            </a:endParaRPr>
          </a:p>
          <a:p>
            <a:pPr lvl="1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1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1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1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17</a:t>
            </a:fld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4807287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Takeoff Power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PAGE  </a:t>
            </a:r>
            <a:fld id="{93005692-73BE-493E-93AB-ECD6027A7652}" type="slidenum">
              <a:rPr lang="en-US" smtClean="0">
                <a:latin typeface="+mj-lt"/>
              </a:rPr>
              <a:pPr/>
              <a:t>18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Custom 7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8000B3"/>
      </a:accent1>
      <a:accent2>
        <a:srgbClr val="0C0C0C"/>
      </a:accent2>
      <a:accent3>
        <a:srgbClr val="BD33DA"/>
      </a:accent3>
      <a:accent4>
        <a:srgbClr val="CFB3E6"/>
      </a:accent4>
      <a:accent5>
        <a:srgbClr val="57058A"/>
      </a:accent5>
      <a:accent6>
        <a:srgbClr val="F1F1F1"/>
      </a:accent6>
      <a:hlink>
        <a:srgbClr val="57058A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nd_tests_2024" id="{E1909CB9-6A2E-6D4A-83AC-E527E8436ADC}" vid="{9B3D140F-7915-2C4F-9E14-26532AC0F2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7B4E0BB56A4747ABA672F6B296B887" ma:contentTypeVersion="9" ma:contentTypeDescription="Create a new document." ma:contentTypeScope="" ma:versionID="c7111536c6c6e26f06593a2d9854311f">
  <xsd:schema xmlns:xsd="http://www.w3.org/2001/XMLSchema" xmlns:xs="http://www.w3.org/2001/XMLSchema" xmlns:p="http://schemas.microsoft.com/office/2006/metadata/properties" xmlns:ns3="4fd09aaa-92c7-42c2-846a-76ca96206204" xmlns:ns4="e93466c3-4607-40ed-b2ce-fff10fbc80c7" targetNamespace="http://schemas.microsoft.com/office/2006/metadata/properties" ma:root="true" ma:fieldsID="71983ef5e152f66a8984ecfb1ae11acd" ns3:_="" ns4:_="">
    <xsd:import namespace="4fd09aaa-92c7-42c2-846a-76ca96206204"/>
    <xsd:import namespace="e93466c3-4607-40ed-b2ce-fff10fbc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09aaa-92c7-42c2-846a-76ca962062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466c3-4607-40ed-b2ce-fff10fbc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d09aaa-92c7-42c2-846a-76ca96206204" xsi:nil="true"/>
  </documentManagement>
</p:properties>
</file>

<file path=customXml/itemProps1.xml><?xml version="1.0" encoding="utf-8"?>
<ds:datastoreItem xmlns:ds="http://schemas.openxmlformats.org/officeDocument/2006/customXml" ds:itemID="{5475DA63-C3F4-4ECC-9D60-55DB02C190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d09aaa-92c7-42c2-846a-76ca96206204"/>
    <ds:schemaRef ds:uri="e93466c3-4607-40ed-b2ce-fff10fbc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A07777-B3E3-4762-8CB8-40FA61A268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DBF3EE-FBD2-47C2-B431-8CCF18B408AB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e93466c3-4607-40ed-b2ce-fff10fbc80c7"/>
    <ds:schemaRef ds:uri="http://schemas.microsoft.com/office/infopath/2007/PartnerControls"/>
    <ds:schemaRef ds:uri="http://purl.org/dc/terms/"/>
    <ds:schemaRef ds:uri="4fd09aaa-92c7-42c2-846a-76ca96206204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TotalTime>6424</TotalTime>
  <Words>1092</Words>
  <Application>Microsoft Office PowerPoint</Application>
  <PresentationFormat>Widescreen</PresentationFormat>
  <Paragraphs>137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Take0ff Power And Energy Performance</vt:lpstr>
      <vt:lpstr>Questions Addressed</vt:lpstr>
      <vt:lpstr>Standing Power Performance (175 ft)</vt:lpstr>
      <vt:lpstr>Findings</vt:lpstr>
      <vt:lpstr>Findings</vt:lpstr>
      <vt:lpstr>Rolling Power Performance (175 ft)</vt:lpstr>
      <vt:lpstr>Findings</vt:lpstr>
      <vt:lpstr>Findings</vt:lpstr>
      <vt:lpstr>Standing Power Performance (900 ft)</vt:lpstr>
      <vt:lpstr>Findings</vt:lpstr>
      <vt:lpstr>Findings</vt:lpstr>
      <vt:lpstr>Rolling Power Performance (900 ft)</vt:lpstr>
      <vt:lpstr>Findings</vt:lpstr>
      <vt:lpstr>Findings</vt:lpstr>
      <vt:lpstr>Derated Power Performance </vt:lpstr>
      <vt:lpstr>Findings</vt:lpstr>
      <vt:lpstr>Conclusions/Insights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analysis</dc:title>
  <dc:creator>Dahui Kang</dc:creator>
  <cp:lastModifiedBy>Nathan Lu</cp:lastModifiedBy>
  <cp:revision>22</cp:revision>
  <dcterms:created xsi:type="dcterms:W3CDTF">2024-03-26T14:38:18Z</dcterms:created>
  <dcterms:modified xsi:type="dcterms:W3CDTF">2024-07-17T22:41:06Z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0x010100F97B4E0BB56A4747ABA672F6B296B887</vt:lpwstr>
  </property>
</Properties>
</file>